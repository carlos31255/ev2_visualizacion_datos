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Arimo Bold" panose="020B0604020202020204" charset="0"/>
      <p:regular r:id="rId15"/>
    </p:embeddedFont>
    <p:embeddedFont>
      <p:font typeface="Cocomat Pro" panose="020B0604020202020204" charset="0"/>
      <p:regular r:id="rId16"/>
    </p:embeddedFont>
    <p:embeddedFont>
      <p:font typeface="Cocomat Pr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7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6.pn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datastudio.google.com/u/0/reporting/598793da-33a9-405f-86dc-8e0d717c4835/page/p_on3mnaa77d" TargetMode="External"/><Relationship Id="rId7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6.svg"/><Relationship Id="rId4" Type="http://schemas.openxmlformats.org/officeDocument/2006/relationships/image" Target="../media/image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03382" y="-913377"/>
            <a:ext cx="4921402" cy="3042321"/>
          </a:xfrm>
          <a:custGeom>
            <a:avLst/>
            <a:gdLst/>
            <a:ahLst/>
            <a:cxnLst/>
            <a:rect l="l" t="t" r="r" b="b"/>
            <a:pathLst>
              <a:path w="4921402" h="3042321">
                <a:moveTo>
                  <a:pt x="0" y="0"/>
                </a:moveTo>
                <a:lnTo>
                  <a:pt x="4921402" y="0"/>
                </a:lnTo>
                <a:lnTo>
                  <a:pt x="4921402" y="3042321"/>
                </a:lnTo>
                <a:lnTo>
                  <a:pt x="0" y="3042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622670" y="607783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8" y="0"/>
                </a:lnTo>
                <a:lnTo>
                  <a:pt x="3298068" y="3298069"/>
                </a:lnTo>
                <a:lnTo>
                  <a:pt x="0" y="3298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835792" y="4646325"/>
            <a:ext cx="3120220" cy="2569927"/>
          </a:xfrm>
          <a:custGeom>
            <a:avLst/>
            <a:gdLst/>
            <a:ahLst/>
            <a:cxnLst/>
            <a:rect l="l" t="t" r="r" b="b"/>
            <a:pathLst>
              <a:path w="3120220" h="2569927">
                <a:moveTo>
                  <a:pt x="0" y="0"/>
                </a:moveTo>
                <a:lnTo>
                  <a:pt x="3120220" y="0"/>
                </a:lnTo>
                <a:lnTo>
                  <a:pt x="3120220" y="2569927"/>
                </a:lnTo>
                <a:lnTo>
                  <a:pt x="0" y="2569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flipH="1">
            <a:off x="12278050" y="4888143"/>
            <a:ext cx="1875137" cy="3815384"/>
          </a:xfrm>
          <a:custGeom>
            <a:avLst/>
            <a:gdLst/>
            <a:ahLst/>
            <a:cxnLst/>
            <a:rect l="l" t="t" r="r" b="b"/>
            <a:pathLst>
              <a:path w="1875137" h="3815384">
                <a:moveTo>
                  <a:pt x="1875137" y="0"/>
                </a:moveTo>
                <a:lnTo>
                  <a:pt x="0" y="0"/>
                </a:lnTo>
                <a:lnTo>
                  <a:pt x="0" y="3815384"/>
                </a:lnTo>
                <a:lnTo>
                  <a:pt x="1875137" y="3815384"/>
                </a:lnTo>
                <a:lnTo>
                  <a:pt x="1875137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4661260" y="6489727"/>
            <a:ext cx="2933998" cy="2933998"/>
          </a:xfrm>
          <a:custGeom>
            <a:avLst/>
            <a:gdLst/>
            <a:ahLst/>
            <a:cxnLst/>
            <a:rect l="l" t="t" r="r" b="b"/>
            <a:pathLst>
              <a:path w="2933998" h="2933998">
                <a:moveTo>
                  <a:pt x="0" y="0"/>
                </a:moveTo>
                <a:lnTo>
                  <a:pt x="2933998" y="0"/>
                </a:lnTo>
                <a:lnTo>
                  <a:pt x="2933998" y="2933998"/>
                </a:lnTo>
                <a:lnTo>
                  <a:pt x="0" y="2933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3277660" y="8375626"/>
            <a:ext cx="5270165" cy="2443440"/>
          </a:xfrm>
          <a:custGeom>
            <a:avLst/>
            <a:gdLst/>
            <a:ahLst/>
            <a:cxnLst/>
            <a:rect l="l" t="t" r="r" b="b"/>
            <a:pathLst>
              <a:path w="5270165" h="2443440">
                <a:moveTo>
                  <a:pt x="0" y="0"/>
                </a:moveTo>
                <a:lnTo>
                  <a:pt x="5270165" y="0"/>
                </a:lnTo>
                <a:lnTo>
                  <a:pt x="5270165" y="2443440"/>
                </a:lnTo>
                <a:lnTo>
                  <a:pt x="0" y="2443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3061324" y="8954900"/>
            <a:ext cx="5226676" cy="1284891"/>
          </a:xfrm>
          <a:custGeom>
            <a:avLst/>
            <a:gdLst/>
            <a:ahLst/>
            <a:cxnLst/>
            <a:rect l="l" t="t" r="r" b="b"/>
            <a:pathLst>
              <a:path w="5226676" h="1284891">
                <a:moveTo>
                  <a:pt x="0" y="0"/>
                </a:moveTo>
                <a:lnTo>
                  <a:pt x="5226676" y="0"/>
                </a:lnTo>
                <a:lnTo>
                  <a:pt x="5226676" y="1284892"/>
                </a:lnTo>
                <a:lnTo>
                  <a:pt x="0" y="12848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4348935" y="775972"/>
            <a:ext cx="9366326" cy="3486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¿DÓNDE INVERTIR EN CONTENIDO?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14885" y="5690854"/>
            <a:ext cx="8458230" cy="538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3905" b="1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INTEGRANTES: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2701" y="6470233"/>
            <a:ext cx="6858794" cy="223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BRUNO MIRANDA</a:t>
            </a:r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CARLOS HIDALGO</a:t>
            </a:r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GABRIEL CAROCA</a:t>
            </a:r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KEINY NAVARRO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60837" y="4309745"/>
            <a:ext cx="9366326" cy="83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ANÁLISIS DEL CATÁLOGO DE STREAMVIEW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5524" y="564130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8" y="0"/>
                </a:lnTo>
                <a:lnTo>
                  <a:pt x="3298068" y="3298068"/>
                </a:lnTo>
                <a:lnTo>
                  <a:pt x="0" y="329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1405278" y="5071055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66792" y="3036776"/>
            <a:ext cx="5175371" cy="2884178"/>
            <a:chOff x="0" y="0"/>
            <a:chExt cx="1466040" cy="8170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6040" cy="817008"/>
            </a:xfrm>
            <a:custGeom>
              <a:avLst/>
              <a:gdLst/>
              <a:ahLst/>
              <a:cxnLst/>
              <a:rect l="l" t="t" r="r" b="b"/>
              <a:pathLst>
                <a:path w="1466040" h="817008">
                  <a:moveTo>
                    <a:pt x="149592" y="0"/>
                  </a:moveTo>
                  <a:lnTo>
                    <a:pt x="1316449" y="0"/>
                  </a:lnTo>
                  <a:cubicBezTo>
                    <a:pt x="1356123" y="0"/>
                    <a:pt x="1394172" y="15760"/>
                    <a:pt x="1422226" y="43814"/>
                  </a:cubicBezTo>
                  <a:cubicBezTo>
                    <a:pt x="1450280" y="71868"/>
                    <a:pt x="1466040" y="109917"/>
                    <a:pt x="1466040" y="149592"/>
                  </a:cubicBezTo>
                  <a:lnTo>
                    <a:pt x="1466040" y="667417"/>
                  </a:lnTo>
                  <a:cubicBezTo>
                    <a:pt x="1466040" y="750034"/>
                    <a:pt x="1399066" y="817008"/>
                    <a:pt x="1316449" y="817008"/>
                  </a:cubicBezTo>
                  <a:lnTo>
                    <a:pt x="149592" y="817008"/>
                  </a:lnTo>
                  <a:cubicBezTo>
                    <a:pt x="109917" y="817008"/>
                    <a:pt x="71868" y="801248"/>
                    <a:pt x="43814" y="773194"/>
                  </a:cubicBezTo>
                  <a:cubicBezTo>
                    <a:pt x="15760" y="745140"/>
                    <a:pt x="0" y="707091"/>
                    <a:pt x="0" y="667417"/>
                  </a:cubicBezTo>
                  <a:lnTo>
                    <a:pt x="0" y="149592"/>
                  </a:lnTo>
                  <a:cubicBezTo>
                    <a:pt x="0" y="109917"/>
                    <a:pt x="15760" y="71868"/>
                    <a:pt x="43814" y="43814"/>
                  </a:cubicBezTo>
                  <a:cubicBezTo>
                    <a:pt x="71868" y="15760"/>
                    <a:pt x="109917" y="0"/>
                    <a:pt x="149592" y="0"/>
                  </a:cubicBezTo>
                  <a:close/>
                </a:path>
              </a:pathLst>
            </a:custGeom>
            <a:solidFill>
              <a:srgbClr val="D1D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66040" cy="86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05620" y="6605393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8" y="0"/>
                </a:lnTo>
                <a:lnTo>
                  <a:pt x="3298068" y="3298068"/>
                </a:lnTo>
                <a:lnTo>
                  <a:pt x="0" y="329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2982286" y="-1729508"/>
            <a:ext cx="4921402" cy="3042321"/>
          </a:xfrm>
          <a:custGeom>
            <a:avLst/>
            <a:gdLst/>
            <a:ahLst/>
            <a:cxnLst/>
            <a:rect l="l" t="t" r="r" b="b"/>
            <a:pathLst>
              <a:path w="4921402" h="3042321">
                <a:moveTo>
                  <a:pt x="0" y="0"/>
                </a:moveTo>
                <a:lnTo>
                  <a:pt x="4921402" y="0"/>
                </a:lnTo>
                <a:lnTo>
                  <a:pt x="4921402" y="3042321"/>
                </a:lnTo>
                <a:lnTo>
                  <a:pt x="0" y="3042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10800000">
            <a:off x="778560" y="8726168"/>
            <a:ext cx="5678347" cy="3510251"/>
          </a:xfrm>
          <a:custGeom>
            <a:avLst/>
            <a:gdLst/>
            <a:ahLst/>
            <a:cxnLst/>
            <a:rect l="l" t="t" r="r" b="b"/>
            <a:pathLst>
              <a:path w="5678347" h="3510251">
                <a:moveTo>
                  <a:pt x="0" y="0"/>
                </a:moveTo>
                <a:lnTo>
                  <a:pt x="5678347" y="0"/>
                </a:lnTo>
                <a:lnTo>
                  <a:pt x="5678347" y="3510252"/>
                </a:lnTo>
                <a:lnTo>
                  <a:pt x="0" y="3510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221551" y="693702"/>
            <a:ext cx="18066449" cy="151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7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STREAMVIEW NECESITA DECIDIR CON DATOS, Y NOS CONTRATÓ PARA ESO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144" y="3787988"/>
            <a:ext cx="4538668" cy="20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Plataforma internacional de streaming. Quiere retener clientes, medir engagement y entender preferencias y experiencia.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7112" y="3275104"/>
            <a:ext cx="4760751" cy="37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EMPRESA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997604" y="1998613"/>
            <a:ext cx="2334475" cy="2334475"/>
          </a:xfrm>
          <a:custGeom>
            <a:avLst/>
            <a:gdLst/>
            <a:ahLst/>
            <a:cxnLst/>
            <a:rect l="l" t="t" r="r" b="b"/>
            <a:pathLst>
              <a:path w="2334475" h="2334475">
                <a:moveTo>
                  <a:pt x="0" y="0"/>
                </a:moveTo>
                <a:lnTo>
                  <a:pt x="2334475" y="0"/>
                </a:lnTo>
                <a:lnTo>
                  <a:pt x="2334475" y="2334475"/>
                </a:lnTo>
                <a:lnTo>
                  <a:pt x="0" y="2334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6594663" y="3036776"/>
            <a:ext cx="5175371" cy="2884178"/>
            <a:chOff x="0" y="0"/>
            <a:chExt cx="1466040" cy="8170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6040" cy="817008"/>
            </a:xfrm>
            <a:custGeom>
              <a:avLst/>
              <a:gdLst/>
              <a:ahLst/>
              <a:cxnLst/>
              <a:rect l="l" t="t" r="r" b="b"/>
              <a:pathLst>
                <a:path w="1466040" h="817008">
                  <a:moveTo>
                    <a:pt x="149592" y="0"/>
                  </a:moveTo>
                  <a:lnTo>
                    <a:pt x="1316449" y="0"/>
                  </a:lnTo>
                  <a:cubicBezTo>
                    <a:pt x="1356123" y="0"/>
                    <a:pt x="1394172" y="15760"/>
                    <a:pt x="1422226" y="43814"/>
                  </a:cubicBezTo>
                  <a:cubicBezTo>
                    <a:pt x="1450280" y="71868"/>
                    <a:pt x="1466040" y="109917"/>
                    <a:pt x="1466040" y="149592"/>
                  </a:cubicBezTo>
                  <a:lnTo>
                    <a:pt x="1466040" y="667417"/>
                  </a:lnTo>
                  <a:cubicBezTo>
                    <a:pt x="1466040" y="750034"/>
                    <a:pt x="1399066" y="817008"/>
                    <a:pt x="1316449" y="817008"/>
                  </a:cubicBezTo>
                  <a:lnTo>
                    <a:pt x="149592" y="817008"/>
                  </a:lnTo>
                  <a:cubicBezTo>
                    <a:pt x="109917" y="817008"/>
                    <a:pt x="71868" y="801248"/>
                    <a:pt x="43814" y="773194"/>
                  </a:cubicBezTo>
                  <a:cubicBezTo>
                    <a:pt x="15760" y="745140"/>
                    <a:pt x="0" y="707091"/>
                    <a:pt x="0" y="667417"/>
                  </a:cubicBezTo>
                  <a:lnTo>
                    <a:pt x="0" y="149592"/>
                  </a:lnTo>
                  <a:cubicBezTo>
                    <a:pt x="0" y="109917"/>
                    <a:pt x="15760" y="71868"/>
                    <a:pt x="43814" y="43814"/>
                  </a:cubicBezTo>
                  <a:cubicBezTo>
                    <a:pt x="71868" y="15760"/>
                    <a:pt x="109917" y="0"/>
                    <a:pt x="149592" y="0"/>
                  </a:cubicBezTo>
                  <a:close/>
                </a:path>
              </a:pathLst>
            </a:custGeom>
            <a:solidFill>
              <a:srgbClr val="D1D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466040" cy="86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008755" y="3787988"/>
            <a:ext cx="4538668" cy="121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Equipo consultor en analítica y comunicación visual de datos.</a:t>
            </a:r>
          </a:p>
          <a:p>
            <a:pPr algn="just">
              <a:lnSpc>
                <a:spcPts val="3254"/>
              </a:lnSpc>
            </a:pPr>
            <a:endParaRPr lang="en-US" sz="2324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861034" y="3275104"/>
            <a:ext cx="4760751" cy="37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NUESTRO ROL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573802" y="3036776"/>
            <a:ext cx="5175371" cy="2884178"/>
            <a:chOff x="0" y="0"/>
            <a:chExt cx="1466040" cy="8170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6040" cy="817008"/>
            </a:xfrm>
            <a:custGeom>
              <a:avLst/>
              <a:gdLst/>
              <a:ahLst/>
              <a:cxnLst/>
              <a:rect l="l" t="t" r="r" b="b"/>
              <a:pathLst>
                <a:path w="1466040" h="817008">
                  <a:moveTo>
                    <a:pt x="149592" y="0"/>
                  </a:moveTo>
                  <a:lnTo>
                    <a:pt x="1316449" y="0"/>
                  </a:lnTo>
                  <a:cubicBezTo>
                    <a:pt x="1356123" y="0"/>
                    <a:pt x="1394172" y="15760"/>
                    <a:pt x="1422226" y="43814"/>
                  </a:cubicBezTo>
                  <a:cubicBezTo>
                    <a:pt x="1450280" y="71868"/>
                    <a:pt x="1466040" y="109917"/>
                    <a:pt x="1466040" y="149592"/>
                  </a:cubicBezTo>
                  <a:lnTo>
                    <a:pt x="1466040" y="667417"/>
                  </a:lnTo>
                  <a:cubicBezTo>
                    <a:pt x="1466040" y="750034"/>
                    <a:pt x="1399066" y="817008"/>
                    <a:pt x="1316449" y="817008"/>
                  </a:cubicBezTo>
                  <a:lnTo>
                    <a:pt x="149592" y="817008"/>
                  </a:lnTo>
                  <a:cubicBezTo>
                    <a:pt x="109917" y="817008"/>
                    <a:pt x="71868" y="801248"/>
                    <a:pt x="43814" y="773194"/>
                  </a:cubicBezTo>
                  <a:cubicBezTo>
                    <a:pt x="15760" y="745140"/>
                    <a:pt x="0" y="707091"/>
                    <a:pt x="0" y="667417"/>
                  </a:cubicBezTo>
                  <a:lnTo>
                    <a:pt x="0" y="149592"/>
                  </a:lnTo>
                  <a:cubicBezTo>
                    <a:pt x="0" y="109917"/>
                    <a:pt x="15760" y="71868"/>
                    <a:pt x="43814" y="43814"/>
                  </a:cubicBezTo>
                  <a:cubicBezTo>
                    <a:pt x="71868" y="15760"/>
                    <a:pt x="109917" y="0"/>
                    <a:pt x="149592" y="0"/>
                  </a:cubicBezTo>
                  <a:close/>
                </a:path>
              </a:pathLst>
            </a:custGeom>
            <a:solidFill>
              <a:srgbClr val="D1D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466040" cy="86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947876" y="3814573"/>
            <a:ext cx="4538668" cy="20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Integrar las fuentes, analizarlas y entregar visualizaciones y un dashboard que apoyen decisiones.</a:t>
            </a:r>
          </a:p>
          <a:p>
            <a:pPr algn="just">
              <a:lnSpc>
                <a:spcPts val="3254"/>
              </a:lnSpc>
            </a:pPr>
            <a:endParaRPr lang="en-US" sz="2324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36834" y="3275104"/>
            <a:ext cx="4760751" cy="37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NUESTRO ENCARGO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66792" y="6458275"/>
            <a:ext cx="17226211" cy="2884178"/>
            <a:chOff x="0" y="0"/>
            <a:chExt cx="4879711" cy="8170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79711" cy="817008"/>
            </a:xfrm>
            <a:custGeom>
              <a:avLst/>
              <a:gdLst/>
              <a:ahLst/>
              <a:cxnLst/>
              <a:rect l="l" t="t" r="r" b="b"/>
              <a:pathLst>
                <a:path w="4879711" h="817008">
                  <a:moveTo>
                    <a:pt x="44943" y="0"/>
                  </a:moveTo>
                  <a:lnTo>
                    <a:pt x="4834768" y="0"/>
                  </a:lnTo>
                  <a:cubicBezTo>
                    <a:pt x="4846688" y="0"/>
                    <a:pt x="4858119" y="4735"/>
                    <a:pt x="4866548" y="13163"/>
                  </a:cubicBezTo>
                  <a:cubicBezTo>
                    <a:pt x="4874976" y="21592"/>
                    <a:pt x="4879711" y="33023"/>
                    <a:pt x="4879711" y="44943"/>
                  </a:cubicBezTo>
                  <a:lnTo>
                    <a:pt x="4879711" y="772066"/>
                  </a:lnTo>
                  <a:cubicBezTo>
                    <a:pt x="4879711" y="796887"/>
                    <a:pt x="4859589" y="817008"/>
                    <a:pt x="4834768" y="817008"/>
                  </a:cubicBezTo>
                  <a:lnTo>
                    <a:pt x="44943" y="817008"/>
                  </a:lnTo>
                  <a:cubicBezTo>
                    <a:pt x="33023" y="817008"/>
                    <a:pt x="21592" y="812273"/>
                    <a:pt x="13163" y="803845"/>
                  </a:cubicBezTo>
                  <a:cubicBezTo>
                    <a:pt x="4735" y="795416"/>
                    <a:pt x="0" y="783985"/>
                    <a:pt x="0" y="772066"/>
                  </a:cubicBezTo>
                  <a:lnTo>
                    <a:pt x="0" y="44943"/>
                  </a:lnTo>
                  <a:cubicBezTo>
                    <a:pt x="0" y="33023"/>
                    <a:pt x="4735" y="21592"/>
                    <a:pt x="13163" y="13163"/>
                  </a:cubicBezTo>
                  <a:cubicBezTo>
                    <a:pt x="21592" y="4735"/>
                    <a:pt x="33023" y="0"/>
                    <a:pt x="44943" y="0"/>
                  </a:cubicBezTo>
                  <a:close/>
                </a:path>
              </a:pathLst>
            </a:custGeom>
            <a:solidFill>
              <a:srgbClr val="99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879711" cy="86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75374" y="7496415"/>
            <a:ext cx="16578267" cy="147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Lo disponible: el catálogo de 31.991 títulos. Medimos engagement con la popularidad y calidad con la calificación, como aproximaciones.</a:t>
            </a:r>
          </a:p>
          <a:p>
            <a:pPr algn="just">
              <a:lnSpc>
                <a:spcPts val="3254"/>
              </a:lnSpc>
            </a:pPr>
            <a:endParaRPr lang="en-US" sz="3000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51069" y="7609266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9" y="0"/>
                </a:lnTo>
                <a:lnTo>
                  <a:pt x="3298069" y="3298068"/>
                </a:lnTo>
                <a:lnTo>
                  <a:pt x="0" y="329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1528262" y="0"/>
            <a:ext cx="6759738" cy="10287000"/>
            <a:chOff x="0" y="0"/>
            <a:chExt cx="9012985" cy="137160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685" r="685"/>
            <a:stretch>
              <a:fillRect/>
            </a:stretch>
          </p:blipFill>
          <p:spPr>
            <a:xfrm>
              <a:off x="0" y="0"/>
              <a:ext cx="9012985" cy="13716000"/>
            </a:xfrm>
            <a:prstGeom prst="rect">
              <a:avLst/>
            </a:prstGeom>
          </p:spPr>
        </p:pic>
      </p:grpSp>
      <p:sp>
        <p:nvSpPr>
          <p:cNvPr id="5" name="Freeform 5"/>
          <p:cNvSpPr/>
          <p:nvPr/>
        </p:nvSpPr>
        <p:spPr>
          <a:xfrm flipH="1">
            <a:off x="12987687" y="-460529"/>
            <a:ext cx="5565098" cy="5657678"/>
          </a:xfrm>
          <a:custGeom>
            <a:avLst/>
            <a:gdLst/>
            <a:ahLst/>
            <a:cxnLst/>
            <a:rect l="l" t="t" r="r" b="b"/>
            <a:pathLst>
              <a:path w="5565098" h="5657678">
                <a:moveTo>
                  <a:pt x="5565098" y="0"/>
                </a:moveTo>
                <a:lnTo>
                  <a:pt x="0" y="0"/>
                </a:lnTo>
                <a:lnTo>
                  <a:pt x="0" y="5657678"/>
                </a:lnTo>
                <a:lnTo>
                  <a:pt x="5565098" y="5657678"/>
                </a:lnTo>
                <a:lnTo>
                  <a:pt x="55650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-730550" y="-856350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8" y="0"/>
                </a:lnTo>
                <a:lnTo>
                  <a:pt x="3298068" y="3298068"/>
                </a:lnTo>
                <a:lnTo>
                  <a:pt x="0" y="329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570264" y="186255"/>
            <a:ext cx="9591598" cy="192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UNA DECISIÓN DE INVERSIÓN CON DOS AUDIENCIAS</a:t>
            </a:r>
          </a:p>
        </p:txBody>
      </p:sp>
      <p:sp>
        <p:nvSpPr>
          <p:cNvPr id="8" name="Freeform 8"/>
          <p:cNvSpPr/>
          <p:nvPr/>
        </p:nvSpPr>
        <p:spPr>
          <a:xfrm>
            <a:off x="-397633" y="7545955"/>
            <a:ext cx="2190036" cy="4456115"/>
          </a:xfrm>
          <a:custGeom>
            <a:avLst/>
            <a:gdLst/>
            <a:ahLst/>
            <a:cxnLst/>
            <a:rect l="l" t="t" r="r" b="b"/>
            <a:pathLst>
              <a:path w="2190036" h="4456115">
                <a:moveTo>
                  <a:pt x="0" y="0"/>
                </a:moveTo>
                <a:lnTo>
                  <a:pt x="2190037" y="0"/>
                </a:lnTo>
                <a:lnTo>
                  <a:pt x="2190037" y="4456115"/>
                </a:lnTo>
                <a:lnTo>
                  <a:pt x="0" y="4456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428129" y="4143780"/>
            <a:ext cx="10957998" cy="2967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Objetivo: identificar qué contenido genera más interés y mejor recepción, para orientar qué adquirir.</a:t>
            </a: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Gerencia de Contenido:</a:t>
            </a:r>
            <a:r>
              <a:rPr lang="en-US" sz="28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Decide qué géneros y países priorizar.</a:t>
            </a: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Dirección Ejecutiva:</a:t>
            </a:r>
            <a:r>
              <a:rPr lang="en-US" sz="28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Aprueba presupuesto y evalúa ROI y riesgos de los datos.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296575" y="2425460"/>
            <a:ext cx="10776054" cy="152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9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¿CÓMO REPARTIR LA INVERSIÓN ENTRE PELÍCULAS Y SERIES, Y EN QUÉ GÉNEROS Y PAÍSES?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0264" y="7425459"/>
            <a:ext cx="5258287" cy="53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9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NUESTRO MENSAJE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8129" y="8153179"/>
            <a:ext cx="10644500" cy="1481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4" lvl="1" indent="-302262" algn="l">
              <a:lnSpc>
                <a:spcPts val="3920"/>
              </a:lnSpc>
              <a:buAutoNum type="arabicPeriod"/>
            </a:pPr>
            <a:r>
              <a:rPr lang="en-US" sz="28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Películas y series son perfiles distintos.</a:t>
            </a:r>
          </a:p>
          <a:p>
            <a:pPr marL="604524" lvl="1" indent="-302262" algn="l">
              <a:lnSpc>
                <a:spcPts val="3920"/>
              </a:lnSpc>
              <a:buAutoNum type="arabicPeriod"/>
            </a:pPr>
            <a:r>
              <a:rPr lang="en-US" sz="28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Engagement ≠ calidad.</a:t>
            </a:r>
          </a:p>
          <a:p>
            <a:pPr marL="604524" lvl="1" indent="-302262" algn="l">
              <a:lnSpc>
                <a:spcPts val="3920"/>
              </a:lnSpc>
              <a:buAutoNum type="arabicPeriod"/>
            </a:pPr>
            <a:r>
              <a:rPr lang="en-US" sz="28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Hay brechas críticas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6011" y="-2499663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8" y="0"/>
                </a:lnTo>
                <a:lnTo>
                  <a:pt x="3298068" y="3298068"/>
                </a:lnTo>
                <a:lnTo>
                  <a:pt x="0" y="329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1405278" y="5071055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1758815" y="2511642"/>
            <a:ext cx="3616813" cy="1996514"/>
            <a:chOff x="0" y="0"/>
            <a:chExt cx="812887" cy="4487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87" cy="448721"/>
            </a:xfrm>
            <a:custGeom>
              <a:avLst/>
              <a:gdLst/>
              <a:ahLst/>
              <a:cxnLst/>
              <a:rect l="l" t="t" r="r" b="b"/>
              <a:pathLst>
                <a:path w="812887" h="448721">
                  <a:moveTo>
                    <a:pt x="214054" y="0"/>
                  </a:moveTo>
                  <a:lnTo>
                    <a:pt x="598834" y="0"/>
                  </a:lnTo>
                  <a:cubicBezTo>
                    <a:pt x="717052" y="0"/>
                    <a:pt x="812887" y="95835"/>
                    <a:pt x="812887" y="214054"/>
                  </a:cubicBezTo>
                  <a:lnTo>
                    <a:pt x="812887" y="234668"/>
                  </a:lnTo>
                  <a:cubicBezTo>
                    <a:pt x="812887" y="291438"/>
                    <a:pt x="790335" y="345884"/>
                    <a:pt x="750192" y="386026"/>
                  </a:cubicBezTo>
                  <a:cubicBezTo>
                    <a:pt x="710050" y="426169"/>
                    <a:pt x="655604" y="448721"/>
                    <a:pt x="598834" y="448721"/>
                  </a:cubicBezTo>
                  <a:lnTo>
                    <a:pt x="214054" y="448721"/>
                  </a:lnTo>
                  <a:cubicBezTo>
                    <a:pt x="157283" y="448721"/>
                    <a:pt x="102838" y="426169"/>
                    <a:pt x="62695" y="386026"/>
                  </a:cubicBezTo>
                  <a:cubicBezTo>
                    <a:pt x="22552" y="345884"/>
                    <a:pt x="0" y="291438"/>
                    <a:pt x="0" y="234668"/>
                  </a:cubicBezTo>
                  <a:lnTo>
                    <a:pt x="0" y="214054"/>
                  </a:lnTo>
                  <a:cubicBezTo>
                    <a:pt x="0" y="95835"/>
                    <a:pt x="95835" y="0"/>
                    <a:pt x="214054" y="0"/>
                  </a:cubicBezTo>
                  <a:close/>
                </a:path>
              </a:pathLst>
            </a:custGeom>
            <a:solidFill>
              <a:srgbClr val="D1D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87" cy="496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05620" y="6605393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8" y="0"/>
                </a:lnTo>
                <a:lnTo>
                  <a:pt x="3298068" y="3298068"/>
                </a:lnTo>
                <a:lnTo>
                  <a:pt x="0" y="329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4992940" y="-829157"/>
            <a:ext cx="4921402" cy="3042321"/>
          </a:xfrm>
          <a:custGeom>
            <a:avLst/>
            <a:gdLst/>
            <a:ahLst/>
            <a:cxnLst/>
            <a:rect l="l" t="t" r="r" b="b"/>
            <a:pathLst>
              <a:path w="4921402" h="3042321">
                <a:moveTo>
                  <a:pt x="0" y="0"/>
                </a:moveTo>
                <a:lnTo>
                  <a:pt x="4921402" y="0"/>
                </a:lnTo>
                <a:lnTo>
                  <a:pt x="4921402" y="3042321"/>
                </a:lnTo>
                <a:lnTo>
                  <a:pt x="0" y="3042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6997604" y="1998613"/>
            <a:ext cx="2334475" cy="2334475"/>
          </a:xfrm>
          <a:custGeom>
            <a:avLst/>
            <a:gdLst/>
            <a:ahLst/>
            <a:cxnLst/>
            <a:rect l="l" t="t" r="r" b="b"/>
            <a:pathLst>
              <a:path w="2334475" h="2334475">
                <a:moveTo>
                  <a:pt x="0" y="0"/>
                </a:moveTo>
                <a:lnTo>
                  <a:pt x="2334475" y="0"/>
                </a:lnTo>
                <a:lnTo>
                  <a:pt x="2334475" y="2334475"/>
                </a:lnTo>
                <a:lnTo>
                  <a:pt x="0" y="2334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1" name="Group 11"/>
          <p:cNvGrpSpPr/>
          <p:nvPr/>
        </p:nvGrpSpPr>
        <p:grpSpPr>
          <a:xfrm>
            <a:off x="11585171" y="3557937"/>
            <a:ext cx="5234520" cy="2671550"/>
            <a:chOff x="0" y="0"/>
            <a:chExt cx="1072359" cy="5473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2359" cy="547302"/>
            </a:xfrm>
            <a:custGeom>
              <a:avLst/>
              <a:gdLst/>
              <a:ahLst/>
              <a:cxnLst/>
              <a:rect l="l" t="t" r="r" b="b"/>
              <a:pathLst>
                <a:path w="1072359" h="547302">
                  <a:moveTo>
                    <a:pt x="147901" y="0"/>
                  </a:moveTo>
                  <a:lnTo>
                    <a:pt x="924458" y="0"/>
                  </a:lnTo>
                  <a:cubicBezTo>
                    <a:pt x="1006141" y="0"/>
                    <a:pt x="1072359" y="66218"/>
                    <a:pt x="1072359" y="147901"/>
                  </a:cubicBezTo>
                  <a:lnTo>
                    <a:pt x="1072359" y="399400"/>
                  </a:lnTo>
                  <a:cubicBezTo>
                    <a:pt x="1072359" y="438626"/>
                    <a:pt x="1056777" y="476245"/>
                    <a:pt x="1029040" y="503982"/>
                  </a:cubicBezTo>
                  <a:cubicBezTo>
                    <a:pt x="1001303" y="531719"/>
                    <a:pt x="963684" y="547302"/>
                    <a:pt x="924458" y="547302"/>
                  </a:cubicBezTo>
                  <a:lnTo>
                    <a:pt x="147901" y="547302"/>
                  </a:lnTo>
                  <a:cubicBezTo>
                    <a:pt x="66218" y="547302"/>
                    <a:pt x="0" y="481084"/>
                    <a:pt x="0" y="399400"/>
                  </a:cubicBezTo>
                  <a:lnTo>
                    <a:pt x="0" y="147901"/>
                  </a:lnTo>
                  <a:cubicBezTo>
                    <a:pt x="0" y="66218"/>
                    <a:pt x="66218" y="0"/>
                    <a:pt x="147901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72359" cy="594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58815" y="4796961"/>
            <a:ext cx="3616813" cy="2019719"/>
            <a:chOff x="0" y="0"/>
            <a:chExt cx="764705" cy="427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4705" cy="427030"/>
            </a:xfrm>
            <a:custGeom>
              <a:avLst/>
              <a:gdLst/>
              <a:ahLst/>
              <a:cxnLst/>
              <a:rect l="l" t="t" r="r" b="b"/>
              <a:pathLst>
                <a:path w="764705" h="427030">
                  <a:moveTo>
                    <a:pt x="213515" y="0"/>
                  </a:moveTo>
                  <a:lnTo>
                    <a:pt x="551189" y="0"/>
                  </a:lnTo>
                  <a:cubicBezTo>
                    <a:pt x="669111" y="0"/>
                    <a:pt x="764705" y="95594"/>
                    <a:pt x="764705" y="213515"/>
                  </a:cubicBezTo>
                  <a:lnTo>
                    <a:pt x="764705" y="213515"/>
                  </a:lnTo>
                  <a:cubicBezTo>
                    <a:pt x="764705" y="331436"/>
                    <a:pt x="669111" y="427030"/>
                    <a:pt x="551189" y="427030"/>
                  </a:cubicBezTo>
                  <a:lnTo>
                    <a:pt x="213515" y="427030"/>
                  </a:lnTo>
                  <a:cubicBezTo>
                    <a:pt x="95594" y="427030"/>
                    <a:pt x="0" y="331436"/>
                    <a:pt x="0" y="213515"/>
                  </a:cubicBezTo>
                  <a:lnTo>
                    <a:pt x="0" y="213515"/>
                  </a:lnTo>
                  <a:cubicBezTo>
                    <a:pt x="0" y="95594"/>
                    <a:pt x="95594" y="0"/>
                    <a:pt x="213515" y="0"/>
                  </a:cubicBezTo>
                  <a:close/>
                </a:path>
              </a:pathLst>
            </a:custGeom>
            <a:solidFill>
              <a:srgbClr val="99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764705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6336" y="7505033"/>
            <a:ext cx="3643475" cy="1465644"/>
            <a:chOff x="0" y="0"/>
            <a:chExt cx="1032096" cy="4151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2096" cy="415177"/>
            </a:xfrm>
            <a:custGeom>
              <a:avLst/>
              <a:gdLst/>
              <a:ahLst/>
              <a:cxnLst/>
              <a:rect l="l" t="t" r="r" b="b"/>
              <a:pathLst>
                <a:path w="1032096" h="415177">
                  <a:moveTo>
                    <a:pt x="207588" y="0"/>
                  </a:moveTo>
                  <a:lnTo>
                    <a:pt x="824508" y="0"/>
                  </a:lnTo>
                  <a:cubicBezTo>
                    <a:pt x="879564" y="0"/>
                    <a:pt x="932365" y="21871"/>
                    <a:pt x="971295" y="60801"/>
                  </a:cubicBezTo>
                  <a:cubicBezTo>
                    <a:pt x="1010225" y="99732"/>
                    <a:pt x="1032096" y="152532"/>
                    <a:pt x="1032096" y="207588"/>
                  </a:cubicBezTo>
                  <a:lnTo>
                    <a:pt x="1032096" y="207588"/>
                  </a:lnTo>
                  <a:cubicBezTo>
                    <a:pt x="1032096" y="322236"/>
                    <a:pt x="939156" y="415177"/>
                    <a:pt x="824508" y="415177"/>
                  </a:cubicBezTo>
                  <a:lnTo>
                    <a:pt x="207588" y="415177"/>
                  </a:lnTo>
                  <a:cubicBezTo>
                    <a:pt x="152532" y="415177"/>
                    <a:pt x="99732" y="393306"/>
                    <a:pt x="60801" y="354375"/>
                  </a:cubicBezTo>
                  <a:cubicBezTo>
                    <a:pt x="21871" y="315445"/>
                    <a:pt x="0" y="262644"/>
                    <a:pt x="0" y="207588"/>
                  </a:cubicBezTo>
                  <a:lnTo>
                    <a:pt x="0" y="207588"/>
                  </a:lnTo>
                  <a:cubicBezTo>
                    <a:pt x="0" y="152532"/>
                    <a:pt x="21871" y="99732"/>
                    <a:pt x="60801" y="60801"/>
                  </a:cubicBezTo>
                  <a:cubicBezTo>
                    <a:pt x="99732" y="21871"/>
                    <a:pt x="152532" y="0"/>
                    <a:pt x="20758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32096" cy="462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626922" y="7521605"/>
            <a:ext cx="3643475" cy="1465644"/>
            <a:chOff x="0" y="0"/>
            <a:chExt cx="1032096" cy="4151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2096" cy="415177"/>
            </a:xfrm>
            <a:custGeom>
              <a:avLst/>
              <a:gdLst/>
              <a:ahLst/>
              <a:cxnLst/>
              <a:rect l="l" t="t" r="r" b="b"/>
              <a:pathLst>
                <a:path w="1032096" h="415177">
                  <a:moveTo>
                    <a:pt x="207588" y="0"/>
                  </a:moveTo>
                  <a:lnTo>
                    <a:pt x="824508" y="0"/>
                  </a:lnTo>
                  <a:cubicBezTo>
                    <a:pt x="879564" y="0"/>
                    <a:pt x="932365" y="21871"/>
                    <a:pt x="971295" y="60801"/>
                  </a:cubicBezTo>
                  <a:cubicBezTo>
                    <a:pt x="1010225" y="99732"/>
                    <a:pt x="1032096" y="152532"/>
                    <a:pt x="1032096" y="207588"/>
                  </a:cubicBezTo>
                  <a:lnTo>
                    <a:pt x="1032096" y="207588"/>
                  </a:lnTo>
                  <a:cubicBezTo>
                    <a:pt x="1032096" y="322236"/>
                    <a:pt x="939156" y="415177"/>
                    <a:pt x="824508" y="415177"/>
                  </a:cubicBezTo>
                  <a:lnTo>
                    <a:pt x="207588" y="415177"/>
                  </a:lnTo>
                  <a:cubicBezTo>
                    <a:pt x="152532" y="415177"/>
                    <a:pt x="99732" y="393306"/>
                    <a:pt x="60801" y="354375"/>
                  </a:cubicBezTo>
                  <a:cubicBezTo>
                    <a:pt x="21871" y="315445"/>
                    <a:pt x="0" y="262644"/>
                    <a:pt x="0" y="207588"/>
                  </a:cubicBezTo>
                  <a:lnTo>
                    <a:pt x="0" y="207588"/>
                  </a:lnTo>
                  <a:cubicBezTo>
                    <a:pt x="0" y="152532"/>
                    <a:pt x="21871" y="99732"/>
                    <a:pt x="60801" y="60801"/>
                  </a:cubicBezTo>
                  <a:cubicBezTo>
                    <a:pt x="99732" y="21871"/>
                    <a:pt x="152532" y="0"/>
                    <a:pt x="20758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32096" cy="462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27509" y="7538177"/>
            <a:ext cx="3643475" cy="1465644"/>
            <a:chOff x="0" y="0"/>
            <a:chExt cx="1032096" cy="4151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32096" cy="415177"/>
            </a:xfrm>
            <a:custGeom>
              <a:avLst/>
              <a:gdLst/>
              <a:ahLst/>
              <a:cxnLst/>
              <a:rect l="l" t="t" r="r" b="b"/>
              <a:pathLst>
                <a:path w="1032096" h="415177">
                  <a:moveTo>
                    <a:pt x="207588" y="0"/>
                  </a:moveTo>
                  <a:lnTo>
                    <a:pt x="824508" y="0"/>
                  </a:lnTo>
                  <a:cubicBezTo>
                    <a:pt x="879564" y="0"/>
                    <a:pt x="932365" y="21871"/>
                    <a:pt x="971295" y="60801"/>
                  </a:cubicBezTo>
                  <a:cubicBezTo>
                    <a:pt x="1010225" y="99732"/>
                    <a:pt x="1032096" y="152532"/>
                    <a:pt x="1032096" y="207588"/>
                  </a:cubicBezTo>
                  <a:lnTo>
                    <a:pt x="1032096" y="207588"/>
                  </a:lnTo>
                  <a:cubicBezTo>
                    <a:pt x="1032096" y="322236"/>
                    <a:pt x="939156" y="415177"/>
                    <a:pt x="824508" y="415177"/>
                  </a:cubicBezTo>
                  <a:lnTo>
                    <a:pt x="207588" y="415177"/>
                  </a:lnTo>
                  <a:cubicBezTo>
                    <a:pt x="152532" y="415177"/>
                    <a:pt x="99732" y="393306"/>
                    <a:pt x="60801" y="354375"/>
                  </a:cubicBezTo>
                  <a:cubicBezTo>
                    <a:pt x="21871" y="315445"/>
                    <a:pt x="0" y="262644"/>
                    <a:pt x="0" y="207588"/>
                  </a:cubicBezTo>
                  <a:lnTo>
                    <a:pt x="0" y="207588"/>
                  </a:lnTo>
                  <a:cubicBezTo>
                    <a:pt x="0" y="152532"/>
                    <a:pt x="21871" y="99732"/>
                    <a:pt x="60801" y="60801"/>
                  </a:cubicBezTo>
                  <a:cubicBezTo>
                    <a:pt x="99732" y="21871"/>
                    <a:pt x="152532" y="0"/>
                    <a:pt x="20758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032096" cy="462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828095" y="7554748"/>
            <a:ext cx="3643475" cy="1465644"/>
            <a:chOff x="0" y="0"/>
            <a:chExt cx="1032096" cy="41517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32096" cy="415177"/>
            </a:xfrm>
            <a:custGeom>
              <a:avLst/>
              <a:gdLst/>
              <a:ahLst/>
              <a:cxnLst/>
              <a:rect l="l" t="t" r="r" b="b"/>
              <a:pathLst>
                <a:path w="1032096" h="415177">
                  <a:moveTo>
                    <a:pt x="207588" y="0"/>
                  </a:moveTo>
                  <a:lnTo>
                    <a:pt x="824508" y="0"/>
                  </a:lnTo>
                  <a:cubicBezTo>
                    <a:pt x="879564" y="0"/>
                    <a:pt x="932365" y="21871"/>
                    <a:pt x="971295" y="60801"/>
                  </a:cubicBezTo>
                  <a:cubicBezTo>
                    <a:pt x="1010225" y="99732"/>
                    <a:pt x="1032096" y="152532"/>
                    <a:pt x="1032096" y="207588"/>
                  </a:cubicBezTo>
                  <a:lnTo>
                    <a:pt x="1032096" y="207588"/>
                  </a:lnTo>
                  <a:cubicBezTo>
                    <a:pt x="1032096" y="322236"/>
                    <a:pt x="939156" y="415177"/>
                    <a:pt x="824508" y="415177"/>
                  </a:cubicBezTo>
                  <a:lnTo>
                    <a:pt x="207588" y="415177"/>
                  </a:lnTo>
                  <a:cubicBezTo>
                    <a:pt x="152532" y="415177"/>
                    <a:pt x="99732" y="393306"/>
                    <a:pt x="60801" y="354375"/>
                  </a:cubicBezTo>
                  <a:cubicBezTo>
                    <a:pt x="21871" y="315445"/>
                    <a:pt x="0" y="262644"/>
                    <a:pt x="0" y="207588"/>
                  </a:cubicBezTo>
                  <a:lnTo>
                    <a:pt x="0" y="207588"/>
                  </a:lnTo>
                  <a:cubicBezTo>
                    <a:pt x="0" y="152532"/>
                    <a:pt x="21871" y="99732"/>
                    <a:pt x="60801" y="60801"/>
                  </a:cubicBezTo>
                  <a:cubicBezTo>
                    <a:pt x="99732" y="21871"/>
                    <a:pt x="152532" y="0"/>
                    <a:pt x="20758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032096" cy="462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6016487" y="4013521"/>
            <a:ext cx="4927824" cy="1379791"/>
          </a:xfrm>
          <a:custGeom>
            <a:avLst/>
            <a:gdLst/>
            <a:ahLst/>
            <a:cxnLst/>
            <a:rect l="l" t="t" r="r" b="b"/>
            <a:pathLst>
              <a:path w="4927824" h="1379791">
                <a:moveTo>
                  <a:pt x="0" y="0"/>
                </a:moveTo>
                <a:lnTo>
                  <a:pt x="4927824" y="0"/>
                </a:lnTo>
                <a:lnTo>
                  <a:pt x="4927824" y="1379790"/>
                </a:lnTo>
                <a:lnTo>
                  <a:pt x="0" y="1379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0" name="TextBox 30"/>
          <p:cNvSpPr txBox="1"/>
          <p:nvPr/>
        </p:nvSpPr>
        <p:spPr>
          <a:xfrm>
            <a:off x="1380749" y="487243"/>
            <a:ext cx="15192588" cy="183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DOS CATÁLOGOS INTEGRADOS EN UNA SOLA TABLA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88749" y="3433699"/>
            <a:ext cx="1597000" cy="51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01"/>
              </a:lnSpc>
            </a:pPr>
            <a:r>
              <a:rPr lang="en-US" sz="2929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películas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01301" y="2877660"/>
            <a:ext cx="1806167" cy="47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3509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16.000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56922" y="4877492"/>
            <a:ext cx="4528822" cy="54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32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títulos, 1 fila por título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54161" y="4180855"/>
            <a:ext cx="2106245" cy="51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3849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31.991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96594" y="5772568"/>
            <a:ext cx="1341254" cy="533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59"/>
              </a:lnSpc>
            </a:pPr>
            <a:r>
              <a:rPr lang="en-US" sz="31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series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8834" y="7658406"/>
            <a:ext cx="3046086" cy="121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Nota 0 sin votos =  ausencia de dato, no mala nota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31877" y="5176523"/>
            <a:ext cx="1956400" cy="50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373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15.991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68093" y="7800228"/>
            <a:ext cx="2702140" cy="8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Engagement como percentil por tipo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68680" y="7816800"/>
            <a:ext cx="3046086" cy="8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628 TV Movie fuera de géneros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171084" y="7640224"/>
            <a:ext cx="3046086" cy="161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22,1 % de películas con finanzas; series, 0 %</a:t>
            </a:r>
          </a:p>
          <a:p>
            <a:pPr algn="just">
              <a:lnSpc>
                <a:spcPts val="3254"/>
              </a:lnSpc>
            </a:pPr>
            <a:endParaRPr lang="en-US" sz="2324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491136" y="5629150"/>
            <a:ext cx="3483833" cy="8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llave content_id (M-/S-) y limpieza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756" y="-266888"/>
            <a:ext cx="3506061" cy="3506061"/>
          </a:xfrm>
          <a:custGeom>
            <a:avLst/>
            <a:gdLst/>
            <a:ahLst/>
            <a:cxnLst/>
            <a:rect l="l" t="t" r="r" b="b"/>
            <a:pathLst>
              <a:path w="3506061" h="3506061">
                <a:moveTo>
                  <a:pt x="0" y="0"/>
                </a:moveTo>
                <a:lnTo>
                  <a:pt x="3506061" y="0"/>
                </a:lnTo>
                <a:lnTo>
                  <a:pt x="3506061" y="3506062"/>
                </a:lnTo>
                <a:lnTo>
                  <a:pt x="0" y="350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976547" y="6997008"/>
            <a:ext cx="3556879" cy="3556879"/>
          </a:xfrm>
          <a:custGeom>
            <a:avLst/>
            <a:gdLst/>
            <a:ahLst/>
            <a:cxnLst/>
            <a:rect l="l" t="t" r="r" b="b"/>
            <a:pathLst>
              <a:path w="3556879" h="3556879">
                <a:moveTo>
                  <a:pt x="0" y="0"/>
                </a:moveTo>
                <a:lnTo>
                  <a:pt x="3556879" y="0"/>
                </a:lnTo>
                <a:lnTo>
                  <a:pt x="3556879" y="3556880"/>
                </a:lnTo>
                <a:lnTo>
                  <a:pt x="0" y="35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-1670" y="1900171"/>
            <a:ext cx="18289670" cy="7739192"/>
            <a:chOff x="0" y="0"/>
            <a:chExt cx="5508308" cy="23308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08308" cy="2330816"/>
            </a:xfrm>
            <a:custGeom>
              <a:avLst/>
              <a:gdLst/>
              <a:ahLst/>
              <a:cxnLst/>
              <a:rect l="l" t="t" r="r" b="b"/>
              <a:pathLst>
                <a:path w="5508308" h="2330816">
                  <a:moveTo>
                    <a:pt x="42329" y="0"/>
                  </a:moveTo>
                  <a:lnTo>
                    <a:pt x="5465979" y="0"/>
                  </a:lnTo>
                  <a:cubicBezTo>
                    <a:pt x="5489357" y="0"/>
                    <a:pt x="5508308" y="18952"/>
                    <a:pt x="5508308" y="42329"/>
                  </a:cubicBezTo>
                  <a:lnTo>
                    <a:pt x="5508308" y="2288486"/>
                  </a:lnTo>
                  <a:cubicBezTo>
                    <a:pt x="5508308" y="2311864"/>
                    <a:pt x="5489357" y="2330816"/>
                    <a:pt x="5465979" y="2330816"/>
                  </a:cubicBezTo>
                  <a:lnTo>
                    <a:pt x="42329" y="2330816"/>
                  </a:lnTo>
                  <a:cubicBezTo>
                    <a:pt x="18952" y="2330816"/>
                    <a:pt x="0" y="2311864"/>
                    <a:pt x="0" y="2288486"/>
                  </a:cubicBezTo>
                  <a:lnTo>
                    <a:pt x="0" y="42329"/>
                  </a:lnTo>
                  <a:cubicBezTo>
                    <a:pt x="0" y="18952"/>
                    <a:pt x="18952" y="0"/>
                    <a:pt x="42329" y="0"/>
                  </a:cubicBezTo>
                  <a:close/>
                </a:path>
              </a:pathLst>
            </a:custGeom>
            <a:ln w="28575" cap="rnd">
              <a:solidFill>
                <a:srgbClr val="404258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08308" cy="2378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37253" y="265253"/>
            <a:ext cx="13015165" cy="163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6235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MUY VISTO NO GARANTIZA BUENA NOTA</a:t>
            </a:r>
          </a:p>
        </p:txBody>
      </p:sp>
      <p:sp>
        <p:nvSpPr>
          <p:cNvPr id="8" name="Freeform 8"/>
          <p:cNvSpPr/>
          <p:nvPr/>
        </p:nvSpPr>
        <p:spPr>
          <a:xfrm>
            <a:off x="14976547" y="-647503"/>
            <a:ext cx="3338046" cy="2749336"/>
          </a:xfrm>
          <a:custGeom>
            <a:avLst/>
            <a:gdLst/>
            <a:ahLst/>
            <a:cxnLst/>
            <a:rect l="l" t="t" r="r" b="b"/>
            <a:pathLst>
              <a:path w="3338046" h="2749336">
                <a:moveTo>
                  <a:pt x="0" y="0"/>
                </a:moveTo>
                <a:lnTo>
                  <a:pt x="3338046" y="0"/>
                </a:lnTo>
                <a:lnTo>
                  <a:pt x="3338046" y="2749336"/>
                </a:lnTo>
                <a:lnTo>
                  <a:pt x="0" y="2749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6884392" y="6997008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 flipH="1">
            <a:off x="421530" y="7510554"/>
            <a:ext cx="1875137" cy="3815384"/>
          </a:xfrm>
          <a:custGeom>
            <a:avLst/>
            <a:gdLst/>
            <a:ahLst/>
            <a:cxnLst/>
            <a:rect l="l" t="t" r="r" b="b"/>
            <a:pathLst>
              <a:path w="1875137" h="3815384">
                <a:moveTo>
                  <a:pt x="1875137" y="0"/>
                </a:moveTo>
                <a:lnTo>
                  <a:pt x="0" y="0"/>
                </a:lnTo>
                <a:lnTo>
                  <a:pt x="0" y="3815384"/>
                </a:lnTo>
                <a:lnTo>
                  <a:pt x="1875137" y="3815384"/>
                </a:lnTo>
                <a:lnTo>
                  <a:pt x="18751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2" name="Group 12"/>
          <p:cNvGrpSpPr/>
          <p:nvPr/>
        </p:nvGrpSpPr>
        <p:grpSpPr>
          <a:xfrm>
            <a:off x="13178681" y="2522806"/>
            <a:ext cx="4704802" cy="2019719"/>
            <a:chOff x="0" y="0"/>
            <a:chExt cx="994739" cy="4270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4739" cy="427030"/>
            </a:xfrm>
            <a:custGeom>
              <a:avLst/>
              <a:gdLst/>
              <a:ahLst/>
              <a:cxnLst/>
              <a:rect l="l" t="t" r="r" b="b"/>
              <a:pathLst>
                <a:path w="994739" h="427030">
                  <a:moveTo>
                    <a:pt x="164554" y="0"/>
                  </a:moveTo>
                  <a:lnTo>
                    <a:pt x="830185" y="0"/>
                  </a:lnTo>
                  <a:cubicBezTo>
                    <a:pt x="921065" y="0"/>
                    <a:pt x="994739" y="73673"/>
                    <a:pt x="994739" y="164554"/>
                  </a:cubicBezTo>
                  <a:lnTo>
                    <a:pt x="994739" y="262477"/>
                  </a:lnTo>
                  <a:cubicBezTo>
                    <a:pt x="994739" y="353357"/>
                    <a:pt x="921065" y="427030"/>
                    <a:pt x="830185" y="427030"/>
                  </a:cubicBezTo>
                  <a:lnTo>
                    <a:pt x="164554" y="427030"/>
                  </a:lnTo>
                  <a:cubicBezTo>
                    <a:pt x="73673" y="427030"/>
                    <a:pt x="0" y="353357"/>
                    <a:pt x="0" y="262477"/>
                  </a:cubicBezTo>
                  <a:lnTo>
                    <a:pt x="0" y="164554"/>
                  </a:lnTo>
                  <a:cubicBezTo>
                    <a:pt x="0" y="73673"/>
                    <a:pt x="73673" y="0"/>
                    <a:pt x="164554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94739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440091" y="3335944"/>
            <a:ext cx="4286225" cy="87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popularidad vs. nota (películas / series)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15190" y="2902368"/>
            <a:ext cx="3594835" cy="50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373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 = 0,25 / 0,13</a:t>
            </a:r>
          </a:p>
        </p:txBody>
      </p:sp>
      <p:sp>
        <p:nvSpPr>
          <p:cNvPr id="17" name="Freeform 17"/>
          <p:cNvSpPr/>
          <p:nvPr/>
        </p:nvSpPr>
        <p:spPr>
          <a:xfrm>
            <a:off x="-61218" y="2788918"/>
            <a:ext cx="13239898" cy="6450180"/>
          </a:xfrm>
          <a:custGeom>
            <a:avLst/>
            <a:gdLst/>
            <a:ahLst/>
            <a:cxnLst/>
            <a:rect l="l" t="t" r="r" b="b"/>
            <a:pathLst>
              <a:path w="13239898" h="6450180">
                <a:moveTo>
                  <a:pt x="0" y="0"/>
                </a:moveTo>
                <a:lnTo>
                  <a:pt x="13239899" y="0"/>
                </a:lnTo>
                <a:lnTo>
                  <a:pt x="13239899" y="6450180"/>
                </a:lnTo>
                <a:lnTo>
                  <a:pt x="0" y="64501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97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18" name="Group 18"/>
          <p:cNvGrpSpPr/>
          <p:nvPr/>
        </p:nvGrpSpPr>
        <p:grpSpPr>
          <a:xfrm>
            <a:off x="13209290" y="4759907"/>
            <a:ext cx="4704802" cy="2019719"/>
            <a:chOff x="0" y="0"/>
            <a:chExt cx="994739" cy="4270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4739" cy="427030"/>
            </a:xfrm>
            <a:custGeom>
              <a:avLst/>
              <a:gdLst/>
              <a:ahLst/>
              <a:cxnLst/>
              <a:rect l="l" t="t" r="r" b="b"/>
              <a:pathLst>
                <a:path w="994739" h="427030">
                  <a:moveTo>
                    <a:pt x="164554" y="0"/>
                  </a:moveTo>
                  <a:lnTo>
                    <a:pt x="830185" y="0"/>
                  </a:lnTo>
                  <a:cubicBezTo>
                    <a:pt x="921065" y="0"/>
                    <a:pt x="994739" y="73673"/>
                    <a:pt x="994739" y="164554"/>
                  </a:cubicBezTo>
                  <a:lnTo>
                    <a:pt x="994739" y="262477"/>
                  </a:lnTo>
                  <a:cubicBezTo>
                    <a:pt x="994739" y="353357"/>
                    <a:pt x="921065" y="427030"/>
                    <a:pt x="830185" y="427030"/>
                  </a:cubicBezTo>
                  <a:lnTo>
                    <a:pt x="164554" y="427030"/>
                  </a:lnTo>
                  <a:cubicBezTo>
                    <a:pt x="73673" y="427030"/>
                    <a:pt x="0" y="353357"/>
                    <a:pt x="0" y="262477"/>
                  </a:cubicBezTo>
                  <a:lnTo>
                    <a:pt x="0" y="164554"/>
                  </a:lnTo>
                  <a:cubicBezTo>
                    <a:pt x="0" y="73673"/>
                    <a:pt x="73673" y="0"/>
                    <a:pt x="164554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94739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470700" y="5573045"/>
            <a:ext cx="4286225" cy="44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nota de series vs. películas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45799" y="5139469"/>
            <a:ext cx="3594835" cy="50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373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7,02 VS. 6,31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239898" y="6997008"/>
            <a:ext cx="4704802" cy="2019719"/>
            <a:chOff x="0" y="0"/>
            <a:chExt cx="994739" cy="42703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4739" cy="427030"/>
            </a:xfrm>
            <a:custGeom>
              <a:avLst/>
              <a:gdLst/>
              <a:ahLst/>
              <a:cxnLst/>
              <a:rect l="l" t="t" r="r" b="b"/>
              <a:pathLst>
                <a:path w="994739" h="427030">
                  <a:moveTo>
                    <a:pt x="164554" y="0"/>
                  </a:moveTo>
                  <a:lnTo>
                    <a:pt x="830185" y="0"/>
                  </a:lnTo>
                  <a:cubicBezTo>
                    <a:pt x="921065" y="0"/>
                    <a:pt x="994739" y="73673"/>
                    <a:pt x="994739" y="164554"/>
                  </a:cubicBezTo>
                  <a:lnTo>
                    <a:pt x="994739" y="262477"/>
                  </a:lnTo>
                  <a:cubicBezTo>
                    <a:pt x="994739" y="353357"/>
                    <a:pt x="921065" y="427030"/>
                    <a:pt x="830185" y="427030"/>
                  </a:cubicBezTo>
                  <a:lnTo>
                    <a:pt x="164554" y="427030"/>
                  </a:lnTo>
                  <a:cubicBezTo>
                    <a:pt x="73673" y="427030"/>
                    <a:pt x="0" y="353357"/>
                    <a:pt x="0" y="262477"/>
                  </a:cubicBezTo>
                  <a:lnTo>
                    <a:pt x="0" y="164554"/>
                  </a:lnTo>
                  <a:cubicBezTo>
                    <a:pt x="0" y="73673"/>
                    <a:pt x="73673" y="0"/>
                    <a:pt x="164554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994739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501308" y="7810147"/>
            <a:ext cx="4286225" cy="44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con 10 o más votos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76408" y="7376570"/>
            <a:ext cx="3594835" cy="50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373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38 % VS. 89 %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756" y="-266888"/>
            <a:ext cx="3506061" cy="3506061"/>
          </a:xfrm>
          <a:custGeom>
            <a:avLst/>
            <a:gdLst/>
            <a:ahLst/>
            <a:cxnLst/>
            <a:rect l="l" t="t" r="r" b="b"/>
            <a:pathLst>
              <a:path w="3506061" h="3506061">
                <a:moveTo>
                  <a:pt x="0" y="0"/>
                </a:moveTo>
                <a:lnTo>
                  <a:pt x="3506061" y="0"/>
                </a:lnTo>
                <a:lnTo>
                  <a:pt x="3506061" y="3506062"/>
                </a:lnTo>
                <a:lnTo>
                  <a:pt x="0" y="350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976547" y="6997008"/>
            <a:ext cx="3556879" cy="3556879"/>
          </a:xfrm>
          <a:custGeom>
            <a:avLst/>
            <a:gdLst/>
            <a:ahLst/>
            <a:cxnLst/>
            <a:rect l="l" t="t" r="r" b="b"/>
            <a:pathLst>
              <a:path w="3556879" h="3556879">
                <a:moveTo>
                  <a:pt x="0" y="0"/>
                </a:moveTo>
                <a:lnTo>
                  <a:pt x="3556879" y="0"/>
                </a:lnTo>
                <a:lnTo>
                  <a:pt x="3556879" y="3556880"/>
                </a:lnTo>
                <a:lnTo>
                  <a:pt x="0" y="35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1784608" y="1382146"/>
            <a:ext cx="14718784" cy="8253967"/>
            <a:chOff x="0" y="0"/>
            <a:chExt cx="4432863" cy="24858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32863" cy="2485851"/>
            </a:xfrm>
            <a:custGeom>
              <a:avLst/>
              <a:gdLst/>
              <a:ahLst/>
              <a:cxnLst/>
              <a:rect l="l" t="t" r="r" b="b"/>
              <a:pathLst>
                <a:path w="4432863" h="2485851">
                  <a:moveTo>
                    <a:pt x="52599" y="0"/>
                  </a:moveTo>
                  <a:lnTo>
                    <a:pt x="4380264" y="0"/>
                  </a:lnTo>
                  <a:cubicBezTo>
                    <a:pt x="4409313" y="0"/>
                    <a:pt x="4432863" y="23549"/>
                    <a:pt x="4432863" y="52599"/>
                  </a:cubicBezTo>
                  <a:lnTo>
                    <a:pt x="4432863" y="2433252"/>
                  </a:lnTo>
                  <a:cubicBezTo>
                    <a:pt x="4432863" y="2462302"/>
                    <a:pt x="4409313" y="2485851"/>
                    <a:pt x="4380264" y="2485851"/>
                  </a:cubicBezTo>
                  <a:lnTo>
                    <a:pt x="52599" y="2485851"/>
                  </a:lnTo>
                  <a:cubicBezTo>
                    <a:pt x="23549" y="2485851"/>
                    <a:pt x="0" y="2462302"/>
                    <a:pt x="0" y="2433252"/>
                  </a:cubicBezTo>
                  <a:lnTo>
                    <a:pt x="0" y="52599"/>
                  </a:lnTo>
                  <a:cubicBezTo>
                    <a:pt x="0" y="23549"/>
                    <a:pt x="23549" y="0"/>
                    <a:pt x="52599" y="0"/>
                  </a:cubicBezTo>
                  <a:close/>
                </a:path>
              </a:pathLst>
            </a:custGeom>
            <a:ln w="28575" cap="rnd">
              <a:solidFill>
                <a:srgbClr val="404258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432863" cy="2533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949954" y="489838"/>
            <a:ext cx="3338046" cy="2749336"/>
          </a:xfrm>
          <a:custGeom>
            <a:avLst/>
            <a:gdLst/>
            <a:ahLst/>
            <a:cxnLst/>
            <a:rect l="l" t="t" r="r" b="b"/>
            <a:pathLst>
              <a:path w="3338046" h="2749336">
                <a:moveTo>
                  <a:pt x="0" y="0"/>
                </a:moveTo>
                <a:lnTo>
                  <a:pt x="3338046" y="0"/>
                </a:lnTo>
                <a:lnTo>
                  <a:pt x="3338046" y="2749336"/>
                </a:lnTo>
                <a:lnTo>
                  <a:pt x="0" y="2749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flipH="1">
            <a:off x="674214" y="5820730"/>
            <a:ext cx="1875137" cy="3815384"/>
          </a:xfrm>
          <a:custGeom>
            <a:avLst/>
            <a:gdLst/>
            <a:ahLst/>
            <a:cxnLst/>
            <a:rect l="l" t="t" r="r" b="b"/>
            <a:pathLst>
              <a:path w="1875137" h="3815384">
                <a:moveTo>
                  <a:pt x="1875137" y="0"/>
                </a:moveTo>
                <a:lnTo>
                  <a:pt x="0" y="0"/>
                </a:lnTo>
                <a:lnTo>
                  <a:pt x="0" y="3815384"/>
                </a:lnTo>
                <a:lnTo>
                  <a:pt x="1875137" y="3815384"/>
                </a:lnTo>
                <a:lnTo>
                  <a:pt x="18751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-1405278" y="4595032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6884392" y="6997008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2347299" y="2559212"/>
          <a:ext cx="13595071" cy="6216236"/>
        </p:xfrm>
        <a:graphic>
          <a:graphicData uri="http://schemas.openxmlformats.org/drawingml/2006/table">
            <a:tbl>
              <a:tblPr/>
              <a:tblGrid>
                <a:gridCol w="3281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970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Python (pandas, matplotlib)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Looker Studio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059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Para qué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Limpieza y gráficos avanzados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Dashboard interactivo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059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Ventaja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Reproducible en notebooks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Filtros nativos y enlace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841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Limitación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es interactivo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Sin boxplot ni hexbin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2637253" y="715908"/>
            <a:ext cx="13015165" cy="163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6235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CADA HERRAMIENTA, PARA LO QUE HACE MEJOR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756" y="-266888"/>
            <a:ext cx="3506061" cy="3506061"/>
          </a:xfrm>
          <a:custGeom>
            <a:avLst/>
            <a:gdLst/>
            <a:ahLst/>
            <a:cxnLst/>
            <a:rect l="l" t="t" r="r" b="b"/>
            <a:pathLst>
              <a:path w="3506061" h="3506061">
                <a:moveTo>
                  <a:pt x="0" y="0"/>
                </a:moveTo>
                <a:lnTo>
                  <a:pt x="3506061" y="0"/>
                </a:lnTo>
                <a:lnTo>
                  <a:pt x="3506061" y="3506062"/>
                </a:lnTo>
                <a:lnTo>
                  <a:pt x="0" y="350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976547" y="6997008"/>
            <a:ext cx="3556879" cy="3556879"/>
          </a:xfrm>
          <a:custGeom>
            <a:avLst/>
            <a:gdLst/>
            <a:ahLst/>
            <a:cxnLst/>
            <a:rect l="l" t="t" r="r" b="b"/>
            <a:pathLst>
              <a:path w="3556879" h="3556879">
                <a:moveTo>
                  <a:pt x="0" y="0"/>
                </a:moveTo>
                <a:lnTo>
                  <a:pt x="3556879" y="0"/>
                </a:lnTo>
                <a:lnTo>
                  <a:pt x="3556879" y="3556880"/>
                </a:lnTo>
                <a:lnTo>
                  <a:pt x="0" y="35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-1670" y="1679054"/>
            <a:ext cx="18289670" cy="8560737"/>
            <a:chOff x="0" y="0"/>
            <a:chExt cx="5508308" cy="25782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08308" cy="2578241"/>
            </a:xfrm>
            <a:custGeom>
              <a:avLst/>
              <a:gdLst/>
              <a:ahLst/>
              <a:cxnLst/>
              <a:rect l="l" t="t" r="r" b="b"/>
              <a:pathLst>
                <a:path w="5508308" h="2578241">
                  <a:moveTo>
                    <a:pt x="42329" y="0"/>
                  </a:moveTo>
                  <a:lnTo>
                    <a:pt x="5465979" y="0"/>
                  </a:lnTo>
                  <a:cubicBezTo>
                    <a:pt x="5489357" y="0"/>
                    <a:pt x="5508308" y="18952"/>
                    <a:pt x="5508308" y="42329"/>
                  </a:cubicBezTo>
                  <a:lnTo>
                    <a:pt x="5508308" y="2535912"/>
                  </a:lnTo>
                  <a:cubicBezTo>
                    <a:pt x="5508308" y="2559290"/>
                    <a:pt x="5489357" y="2578241"/>
                    <a:pt x="5465979" y="2578241"/>
                  </a:cubicBezTo>
                  <a:lnTo>
                    <a:pt x="42329" y="2578241"/>
                  </a:lnTo>
                  <a:cubicBezTo>
                    <a:pt x="18952" y="2578241"/>
                    <a:pt x="0" y="2559290"/>
                    <a:pt x="0" y="2535912"/>
                  </a:cubicBezTo>
                  <a:lnTo>
                    <a:pt x="0" y="42329"/>
                  </a:lnTo>
                  <a:cubicBezTo>
                    <a:pt x="0" y="18952"/>
                    <a:pt x="18952" y="0"/>
                    <a:pt x="42329" y="0"/>
                  </a:cubicBezTo>
                  <a:close/>
                </a:path>
              </a:pathLst>
            </a:custGeom>
            <a:ln w="28575" cap="rnd">
              <a:solidFill>
                <a:srgbClr val="404258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08308" cy="2625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37253" y="265253"/>
            <a:ext cx="13015165" cy="16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6235" b="1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  <a:hlinkClick r:id="rId3" tooltip="https://datastudio.google.com/u/0/reporting/598793da-33a9-405f-86dc-8e0d717c4835/page/p_on3mnaa77d"/>
              </a:rPr>
              <a:t>DEMO EN VIVO: FILTROS Y NAVEGACIÓN</a:t>
            </a:r>
          </a:p>
        </p:txBody>
      </p:sp>
      <p:sp>
        <p:nvSpPr>
          <p:cNvPr id="8" name="Freeform 8"/>
          <p:cNvSpPr/>
          <p:nvPr/>
        </p:nvSpPr>
        <p:spPr>
          <a:xfrm>
            <a:off x="14976547" y="-647503"/>
            <a:ext cx="3338046" cy="2749336"/>
          </a:xfrm>
          <a:custGeom>
            <a:avLst/>
            <a:gdLst/>
            <a:ahLst/>
            <a:cxnLst/>
            <a:rect l="l" t="t" r="r" b="b"/>
            <a:pathLst>
              <a:path w="3338046" h="2749336">
                <a:moveTo>
                  <a:pt x="0" y="0"/>
                </a:moveTo>
                <a:lnTo>
                  <a:pt x="3338046" y="0"/>
                </a:lnTo>
                <a:lnTo>
                  <a:pt x="3338046" y="2749336"/>
                </a:lnTo>
                <a:lnTo>
                  <a:pt x="0" y="2749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6884392" y="6997008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 flipH="1">
            <a:off x="421530" y="7510554"/>
            <a:ext cx="1875137" cy="3815384"/>
          </a:xfrm>
          <a:custGeom>
            <a:avLst/>
            <a:gdLst/>
            <a:ahLst/>
            <a:cxnLst/>
            <a:rect l="l" t="t" r="r" b="b"/>
            <a:pathLst>
              <a:path w="1875137" h="3815384">
                <a:moveTo>
                  <a:pt x="1875137" y="0"/>
                </a:moveTo>
                <a:lnTo>
                  <a:pt x="0" y="0"/>
                </a:lnTo>
                <a:lnTo>
                  <a:pt x="0" y="3815384"/>
                </a:lnTo>
                <a:lnTo>
                  <a:pt x="1875137" y="3815384"/>
                </a:lnTo>
                <a:lnTo>
                  <a:pt x="18751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2" name="Group 12"/>
          <p:cNvGrpSpPr/>
          <p:nvPr/>
        </p:nvGrpSpPr>
        <p:grpSpPr>
          <a:xfrm>
            <a:off x="13449187" y="2522806"/>
            <a:ext cx="4671187" cy="2019719"/>
            <a:chOff x="0" y="0"/>
            <a:chExt cx="987631" cy="4270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7631" cy="427030"/>
            </a:xfrm>
            <a:custGeom>
              <a:avLst/>
              <a:gdLst/>
              <a:ahLst/>
              <a:cxnLst/>
              <a:rect l="l" t="t" r="r" b="b"/>
              <a:pathLst>
                <a:path w="987631" h="427030">
                  <a:moveTo>
                    <a:pt x="165738" y="0"/>
                  </a:moveTo>
                  <a:lnTo>
                    <a:pt x="821894" y="0"/>
                  </a:lnTo>
                  <a:cubicBezTo>
                    <a:pt x="913428" y="0"/>
                    <a:pt x="987631" y="74203"/>
                    <a:pt x="987631" y="165738"/>
                  </a:cubicBezTo>
                  <a:lnTo>
                    <a:pt x="987631" y="261293"/>
                  </a:lnTo>
                  <a:cubicBezTo>
                    <a:pt x="987631" y="305249"/>
                    <a:pt x="970170" y="347405"/>
                    <a:pt x="939088" y="378487"/>
                  </a:cubicBezTo>
                  <a:cubicBezTo>
                    <a:pt x="908006" y="409569"/>
                    <a:pt x="865850" y="427030"/>
                    <a:pt x="821894" y="427030"/>
                  </a:cubicBezTo>
                  <a:lnTo>
                    <a:pt x="165738" y="427030"/>
                  </a:lnTo>
                  <a:cubicBezTo>
                    <a:pt x="74203" y="427030"/>
                    <a:pt x="0" y="352827"/>
                    <a:pt x="0" y="261293"/>
                  </a:cubicBezTo>
                  <a:lnTo>
                    <a:pt x="0" y="165738"/>
                  </a:lnTo>
                  <a:cubicBezTo>
                    <a:pt x="0" y="74203"/>
                    <a:pt x="74203" y="0"/>
                    <a:pt x="165738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87631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449187" y="4765949"/>
            <a:ext cx="4576430" cy="2019719"/>
            <a:chOff x="0" y="0"/>
            <a:chExt cx="967597" cy="4270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7597" cy="427030"/>
            </a:xfrm>
            <a:custGeom>
              <a:avLst/>
              <a:gdLst/>
              <a:ahLst/>
              <a:cxnLst/>
              <a:rect l="l" t="t" r="r" b="b"/>
              <a:pathLst>
                <a:path w="967597" h="427030">
                  <a:moveTo>
                    <a:pt x="169169" y="0"/>
                  </a:moveTo>
                  <a:lnTo>
                    <a:pt x="798428" y="0"/>
                  </a:lnTo>
                  <a:cubicBezTo>
                    <a:pt x="843294" y="0"/>
                    <a:pt x="886323" y="17823"/>
                    <a:pt x="918048" y="49549"/>
                  </a:cubicBezTo>
                  <a:cubicBezTo>
                    <a:pt x="949774" y="81274"/>
                    <a:pt x="967597" y="124303"/>
                    <a:pt x="967597" y="169169"/>
                  </a:cubicBezTo>
                  <a:lnTo>
                    <a:pt x="967597" y="257861"/>
                  </a:lnTo>
                  <a:cubicBezTo>
                    <a:pt x="967597" y="302727"/>
                    <a:pt x="949774" y="345756"/>
                    <a:pt x="918048" y="377482"/>
                  </a:cubicBezTo>
                  <a:cubicBezTo>
                    <a:pt x="886323" y="409207"/>
                    <a:pt x="843294" y="427030"/>
                    <a:pt x="798428" y="427030"/>
                  </a:cubicBezTo>
                  <a:lnTo>
                    <a:pt x="169169" y="427030"/>
                  </a:lnTo>
                  <a:cubicBezTo>
                    <a:pt x="124303" y="427030"/>
                    <a:pt x="81274" y="409207"/>
                    <a:pt x="49549" y="377482"/>
                  </a:cubicBezTo>
                  <a:cubicBezTo>
                    <a:pt x="17823" y="345756"/>
                    <a:pt x="0" y="302727"/>
                    <a:pt x="0" y="257861"/>
                  </a:cubicBezTo>
                  <a:lnTo>
                    <a:pt x="0" y="169169"/>
                  </a:lnTo>
                  <a:cubicBezTo>
                    <a:pt x="0" y="124303"/>
                    <a:pt x="17823" y="81274"/>
                    <a:pt x="49549" y="49549"/>
                  </a:cubicBezTo>
                  <a:cubicBezTo>
                    <a:pt x="81274" y="17823"/>
                    <a:pt x="124303" y="0"/>
                    <a:pt x="169169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67597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449187" y="7009093"/>
            <a:ext cx="4576430" cy="2019719"/>
            <a:chOff x="0" y="0"/>
            <a:chExt cx="967597" cy="4270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7597" cy="427030"/>
            </a:xfrm>
            <a:custGeom>
              <a:avLst/>
              <a:gdLst/>
              <a:ahLst/>
              <a:cxnLst/>
              <a:rect l="l" t="t" r="r" b="b"/>
              <a:pathLst>
                <a:path w="967597" h="427030">
                  <a:moveTo>
                    <a:pt x="169169" y="0"/>
                  </a:moveTo>
                  <a:lnTo>
                    <a:pt x="798428" y="0"/>
                  </a:lnTo>
                  <a:cubicBezTo>
                    <a:pt x="843294" y="0"/>
                    <a:pt x="886323" y="17823"/>
                    <a:pt x="918048" y="49549"/>
                  </a:cubicBezTo>
                  <a:cubicBezTo>
                    <a:pt x="949774" y="81274"/>
                    <a:pt x="967597" y="124303"/>
                    <a:pt x="967597" y="169169"/>
                  </a:cubicBezTo>
                  <a:lnTo>
                    <a:pt x="967597" y="257861"/>
                  </a:lnTo>
                  <a:cubicBezTo>
                    <a:pt x="967597" y="302727"/>
                    <a:pt x="949774" y="345756"/>
                    <a:pt x="918048" y="377482"/>
                  </a:cubicBezTo>
                  <a:cubicBezTo>
                    <a:pt x="886323" y="409207"/>
                    <a:pt x="843294" y="427030"/>
                    <a:pt x="798428" y="427030"/>
                  </a:cubicBezTo>
                  <a:lnTo>
                    <a:pt x="169169" y="427030"/>
                  </a:lnTo>
                  <a:cubicBezTo>
                    <a:pt x="124303" y="427030"/>
                    <a:pt x="81274" y="409207"/>
                    <a:pt x="49549" y="377482"/>
                  </a:cubicBezTo>
                  <a:cubicBezTo>
                    <a:pt x="17823" y="345756"/>
                    <a:pt x="0" y="302727"/>
                    <a:pt x="0" y="257861"/>
                  </a:cubicBezTo>
                  <a:lnTo>
                    <a:pt x="0" y="169169"/>
                  </a:lnTo>
                  <a:cubicBezTo>
                    <a:pt x="0" y="124303"/>
                    <a:pt x="17823" y="81274"/>
                    <a:pt x="49549" y="49549"/>
                  </a:cubicBezTo>
                  <a:cubicBezTo>
                    <a:pt x="81274" y="17823"/>
                    <a:pt x="124303" y="0"/>
                    <a:pt x="169169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67597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0" y="2320962"/>
            <a:ext cx="13449187" cy="7486603"/>
          </a:xfrm>
          <a:custGeom>
            <a:avLst/>
            <a:gdLst/>
            <a:ahLst/>
            <a:cxnLst/>
            <a:rect l="l" t="t" r="r" b="b"/>
            <a:pathLst>
              <a:path w="13449187" h="7486603">
                <a:moveTo>
                  <a:pt x="0" y="0"/>
                </a:moveTo>
                <a:lnTo>
                  <a:pt x="13449187" y="0"/>
                </a:lnTo>
                <a:lnTo>
                  <a:pt x="13449187" y="7486603"/>
                </a:lnTo>
                <a:lnTo>
                  <a:pt x="0" y="74866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3597258" y="3402970"/>
            <a:ext cx="4286225" cy="87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Tipo, año, género, país, idioma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46451" y="2993172"/>
            <a:ext cx="4037032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1. FILTROS GLOBALES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41668" y="5847450"/>
            <a:ext cx="4286225" cy="44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Seis indicadores en vivo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56810" y="5076613"/>
            <a:ext cx="4609761" cy="685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2. KPIS QUE </a:t>
            </a:r>
          </a:p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REACCIONAN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41668" y="7896335"/>
            <a:ext cx="4286225" cy="87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Cinco páginas, cada una con una pregunta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56810" y="7233344"/>
            <a:ext cx="4609761" cy="685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3. MENÚ DE </a:t>
            </a:r>
          </a:p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NAVEGACIÓN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756" y="-266888"/>
            <a:ext cx="3506061" cy="3506061"/>
          </a:xfrm>
          <a:custGeom>
            <a:avLst/>
            <a:gdLst/>
            <a:ahLst/>
            <a:cxnLst/>
            <a:rect l="l" t="t" r="r" b="b"/>
            <a:pathLst>
              <a:path w="3506061" h="3506061">
                <a:moveTo>
                  <a:pt x="0" y="0"/>
                </a:moveTo>
                <a:lnTo>
                  <a:pt x="3506061" y="0"/>
                </a:lnTo>
                <a:lnTo>
                  <a:pt x="3506061" y="3506062"/>
                </a:lnTo>
                <a:lnTo>
                  <a:pt x="0" y="350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976547" y="6997008"/>
            <a:ext cx="3556879" cy="3556879"/>
          </a:xfrm>
          <a:custGeom>
            <a:avLst/>
            <a:gdLst/>
            <a:ahLst/>
            <a:cxnLst/>
            <a:rect l="l" t="t" r="r" b="b"/>
            <a:pathLst>
              <a:path w="3556879" h="3556879">
                <a:moveTo>
                  <a:pt x="0" y="0"/>
                </a:moveTo>
                <a:lnTo>
                  <a:pt x="3556879" y="0"/>
                </a:lnTo>
                <a:lnTo>
                  <a:pt x="3556879" y="3556880"/>
                </a:lnTo>
                <a:lnTo>
                  <a:pt x="0" y="35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-26593" y="1904467"/>
            <a:ext cx="18289670" cy="8081302"/>
            <a:chOff x="0" y="0"/>
            <a:chExt cx="5508308" cy="2433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08308" cy="2433850"/>
            </a:xfrm>
            <a:custGeom>
              <a:avLst/>
              <a:gdLst/>
              <a:ahLst/>
              <a:cxnLst/>
              <a:rect l="l" t="t" r="r" b="b"/>
              <a:pathLst>
                <a:path w="5508308" h="2433850">
                  <a:moveTo>
                    <a:pt x="42329" y="0"/>
                  </a:moveTo>
                  <a:lnTo>
                    <a:pt x="5465979" y="0"/>
                  </a:lnTo>
                  <a:cubicBezTo>
                    <a:pt x="5489357" y="0"/>
                    <a:pt x="5508308" y="18952"/>
                    <a:pt x="5508308" y="42329"/>
                  </a:cubicBezTo>
                  <a:lnTo>
                    <a:pt x="5508308" y="2391520"/>
                  </a:lnTo>
                  <a:cubicBezTo>
                    <a:pt x="5508308" y="2414898"/>
                    <a:pt x="5489357" y="2433850"/>
                    <a:pt x="5465979" y="2433850"/>
                  </a:cubicBezTo>
                  <a:lnTo>
                    <a:pt x="42329" y="2433850"/>
                  </a:lnTo>
                  <a:cubicBezTo>
                    <a:pt x="18952" y="2433850"/>
                    <a:pt x="0" y="2414898"/>
                    <a:pt x="0" y="2391520"/>
                  </a:cubicBezTo>
                  <a:lnTo>
                    <a:pt x="0" y="42329"/>
                  </a:lnTo>
                  <a:cubicBezTo>
                    <a:pt x="0" y="18952"/>
                    <a:pt x="18952" y="0"/>
                    <a:pt x="42329" y="0"/>
                  </a:cubicBezTo>
                  <a:close/>
                </a:path>
              </a:pathLst>
            </a:custGeom>
            <a:ln w="28575" cap="rnd">
              <a:solidFill>
                <a:srgbClr val="404258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08308" cy="24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976547" y="-647503"/>
            <a:ext cx="3338046" cy="2749336"/>
          </a:xfrm>
          <a:custGeom>
            <a:avLst/>
            <a:gdLst/>
            <a:ahLst/>
            <a:cxnLst/>
            <a:rect l="l" t="t" r="r" b="b"/>
            <a:pathLst>
              <a:path w="3338046" h="2749336">
                <a:moveTo>
                  <a:pt x="0" y="0"/>
                </a:moveTo>
                <a:lnTo>
                  <a:pt x="3338046" y="0"/>
                </a:lnTo>
                <a:lnTo>
                  <a:pt x="3338046" y="2749336"/>
                </a:lnTo>
                <a:lnTo>
                  <a:pt x="0" y="2749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2637253" y="265253"/>
            <a:ext cx="14073279" cy="163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6235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DISEÑADO PARA UN EJECUTIVO CON POCO TIEMPO</a:t>
            </a:r>
          </a:p>
        </p:txBody>
      </p:sp>
      <p:sp>
        <p:nvSpPr>
          <p:cNvPr id="9" name="Freeform 9"/>
          <p:cNvSpPr/>
          <p:nvPr/>
        </p:nvSpPr>
        <p:spPr>
          <a:xfrm>
            <a:off x="16884392" y="6997008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 flipH="1">
            <a:off x="421530" y="7510554"/>
            <a:ext cx="1875137" cy="3815384"/>
          </a:xfrm>
          <a:custGeom>
            <a:avLst/>
            <a:gdLst/>
            <a:ahLst/>
            <a:cxnLst/>
            <a:rect l="l" t="t" r="r" b="b"/>
            <a:pathLst>
              <a:path w="1875137" h="3815384">
                <a:moveTo>
                  <a:pt x="1875137" y="0"/>
                </a:moveTo>
                <a:lnTo>
                  <a:pt x="0" y="0"/>
                </a:lnTo>
                <a:lnTo>
                  <a:pt x="0" y="3815384"/>
                </a:lnTo>
                <a:lnTo>
                  <a:pt x="1875137" y="3815384"/>
                </a:lnTo>
                <a:lnTo>
                  <a:pt x="18751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2" name="Group 12"/>
          <p:cNvGrpSpPr/>
          <p:nvPr/>
        </p:nvGrpSpPr>
        <p:grpSpPr>
          <a:xfrm>
            <a:off x="48175" y="2482606"/>
            <a:ext cx="4671187" cy="1416079"/>
            <a:chOff x="0" y="0"/>
            <a:chExt cx="987631" cy="2994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7631" cy="299402"/>
            </a:xfrm>
            <a:custGeom>
              <a:avLst/>
              <a:gdLst/>
              <a:ahLst/>
              <a:cxnLst/>
              <a:rect l="l" t="t" r="r" b="b"/>
              <a:pathLst>
                <a:path w="987631" h="299402">
                  <a:moveTo>
                    <a:pt x="149701" y="0"/>
                  </a:moveTo>
                  <a:lnTo>
                    <a:pt x="837930" y="0"/>
                  </a:lnTo>
                  <a:cubicBezTo>
                    <a:pt x="877633" y="0"/>
                    <a:pt x="915711" y="15772"/>
                    <a:pt x="943785" y="43846"/>
                  </a:cubicBezTo>
                  <a:cubicBezTo>
                    <a:pt x="971859" y="71921"/>
                    <a:pt x="987631" y="109998"/>
                    <a:pt x="987631" y="149701"/>
                  </a:cubicBezTo>
                  <a:lnTo>
                    <a:pt x="987631" y="149701"/>
                  </a:lnTo>
                  <a:cubicBezTo>
                    <a:pt x="987631" y="232379"/>
                    <a:pt x="920608" y="299402"/>
                    <a:pt x="837930" y="299402"/>
                  </a:cubicBezTo>
                  <a:lnTo>
                    <a:pt x="149701" y="299402"/>
                  </a:lnTo>
                  <a:cubicBezTo>
                    <a:pt x="109998" y="299402"/>
                    <a:pt x="71921" y="283630"/>
                    <a:pt x="43846" y="255556"/>
                  </a:cubicBezTo>
                  <a:cubicBezTo>
                    <a:pt x="15772" y="227481"/>
                    <a:pt x="0" y="189404"/>
                    <a:pt x="0" y="149701"/>
                  </a:cubicBezTo>
                  <a:lnTo>
                    <a:pt x="0" y="149701"/>
                  </a:lnTo>
                  <a:cubicBezTo>
                    <a:pt x="0" y="109998"/>
                    <a:pt x="15772" y="71921"/>
                    <a:pt x="43846" y="43846"/>
                  </a:cubicBezTo>
                  <a:cubicBezTo>
                    <a:pt x="71921" y="15772"/>
                    <a:pt x="109998" y="0"/>
                    <a:pt x="149701" y="0"/>
                  </a:cubicBezTo>
                  <a:close/>
                </a:path>
              </a:pathLst>
            </a:custGeom>
            <a:solidFill>
              <a:srgbClr val="99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87631" cy="347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719362" y="2546197"/>
            <a:ext cx="13568638" cy="6375169"/>
          </a:xfrm>
          <a:custGeom>
            <a:avLst/>
            <a:gdLst/>
            <a:ahLst/>
            <a:cxnLst/>
            <a:rect l="l" t="t" r="r" b="b"/>
            <a:pathLst>
              <a:path w="13568638" h="6375169">
                <a:moveTo>
                  <a:pt x="0" y="0"/>
                </a:moveTo>
                <a:lnTo>
                  <a:pt x="13568638" y="0"/>
                </a:lnTo>
                <a:lnTo>
                  <a:pt x="13568638" y="6375169"/>
                </a:lnTo>
                <a:lnTo>
                  <a:pt x="0" y="637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711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240656" y="3019571"/>
            <a:ext cx="4286225" cy="87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Filtros arriba, KPIs, detalle abajo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5253" y="2722517"/>
            <a:ext cx="4037032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ORDEN CONSTANTE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3253" y="4108194"/>
            <a:ext cx="4671187" cy="1416079"/>
            <a:chOff x="0" y="0"/>
            <a:chExt cx="987631" cy="29940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7631" cy="299402"/>
            </a:xfrm>
            <a:custGeom>
              <a:avLst/>
              <a:gdLst/>
              <a:ahLst/>
              <a:cxnLst/>
              <a:rect l="l" t="t" r="r" b="b"/>
              <a:pathLst>
                <a:path w="987631" h="299402">
                  <a:moveTo>
                    <a:pt x="149701" y="0"/>
                  </a:moveTo>
                  <a:lnTo>
                    <a:pt x="837930" y="0"/>
                  </a:lnTo>
                  <a:cubicBezTo>
                    <a:pt x="877633" y="0"/>
                    <a:pt x="915711" y="15772"/>
                    <a:pt x="943785" y="43846"/>
                  </a:cubicBezTo>
                  <a:cubicBezTo>
                    <a:pt x="971859" y="71921"/>
                    <a:pt x="987631" y="109998"/>
                    <a:pt x="987631" y="149701"/>
                  </a:cubicBezTo>
                  <a:lnTo>
                    <a:pt x="987631" y="149701"/>
                  </a:lnTo>
                  <a:cubicBezTo>
                    <a:pt x="987631" y="232379"/>
                    <a:pt x="920608" y="299402"/>
                    <a:pt x="837930" y="299402"/>
                  </a:cubicBezTo>
                  <a:lnTo>
                    <a:pt x="149701" y="299402"/>
                  </a:lnTo>
                  <a:cubicBezTo>
                    <a:pt x="109998" y="299402"/>
                    <a:pt x="71921" y="283630"/>
                    <a:pt x="43846" y="255556"/>
                  </a:cubicBezTo>
                  <a:cubicBezTo>
                    <a:pt x="15772" y="227481"/>
                    <a:pt x="0" y="189404"/>
                    <a:pt x="0" y="149701"/>
                  </a:cubicBezTo>
                  <a:lnTo>
                    <a:pt x="0" y="149701"/>
                  </a:lnTo>
                  <a:cubicBezTo>
                    <a:pt x="0" y="109998"/>
                    <a:pt x="15772" y="71921"/>
                    <a:pt x="43846" y="43846"/>
                  </a:cubicBezTo>
                  <a:cubicBezTo>
                    <a:pt x="71921" y="15772"/>
                    <a:pt x="109998" y="0"/>
                    <a:pt x="149701" y="0"/>
                  </a:cubicBezTo>
                  <a:close/>
                </a:path>
              </a:pathLst>
            </a:custGeom>
            <a:solidFill>
              <a:srgbClr val="99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87631" cy="347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15734" y="4645159"/>
            <a:ext cx="4286225" cy="44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Cada gráfico, con su nota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0330" y="4348105"/>
            <a:ext cx="4037032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LECTURA INCLUIDA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-1670" y="5733781"/>
            <a:ext cx="4671187" cy="1416079"/>
            <a:chOff x="0" y="0"/>
            <a:chExt cx="987631" cy="29940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87631" cy="299402"/>
            </a:xfrm>
            <a:custGeom>
              <a:avLst/>
              <a:gdLst/>
              <a:ahLst/>
              <a:cxnLst/>
              <a:rect l="l" t="t" r="r" b="b"/>
              <a:pathLst>
                <a:path w="987631" h="299402">
                  <a:moveTo>
                    <a:pt x="149701" y="0"/>
                  </a:moveTo>
                  <a:lnTo>
                    <a:pt x="837930" y="0"/>
                  </a:lnTo>
                  <a:cubicBezTo>
                    <a:pt x="877633" y="0"/>
                    <a:pt x="915711" y="15772"/>
                    <a:pt x="943785" y="43846"/>
                  </a:cubicBezTo>
                  <a:cubicBezTo>
                    <a:pt x="971859" y="71921"/>
                    <a:pt x="987631" y="109998"/>
                    <a:pt x="987631" y="149701"/>
                  </a:cubicBezTo>
                  <a:lnTo>
                    <a:pt x="987631" y="149701"/>
                  </a:lnTo>
                  <a:cubicBezTo>
                    <a:pt x="987631" y="232379"/>
                    <a:pt x="920608" y="299402"/>
                    <a:pt x="837930" y="299402"/>
                  </a:cubicBezTo>
                  <a:lnTo>
                    <a:pt x="149701" y="299402"/>
                  </a:lnTo>
                  <a:cubicBezTo>
                    <a:pt x="109998" y="299402"/>
                    <a:pt x="71921" y="283630"/>
                    <a:pt x="43846" y="255556"/>
                  </a:cubicBezTo>
                  <a:cubicBezTo>
                    <a:pt x="15772" y="227481"/>
                    <a:pt x="0" y="189404"/>
                    <a:pt x="0" y="149701"/>
                  </a:cubicBezTo>
                  <a:lnTo>
                    <a:pt x="0" y="149701"/>
                  </a:lnTo>
                  <a:cubicBezTo>
                    <a:pt x="0" y="109998"/>
                    <a:pt x="15772" y="71921"/>
                    <a:pt x="43846" y="43846"/>
                  </a:cubicBezTo>
                  <a:cubicBezTo>
                    <a:pt x="71921" y="15772"/>
                    <a:pt x="109998" y="0"/>
                    <a:pt x="149701" y="0"/>
                  </a:cubicBezTo>
                  <a:close/>
                </a:path>
              </a:pathLst>
            </a:custGeom>
            <a:solidFill>
              <a:srgbClr val="99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987631" cy="347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90811" y="6270747"/>
            <a:ext cx="4286225" cy="87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Azul películas, naranja series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5408" y="5973693"/>
            <a:ext cx="4037032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COLOR CON SENTIDO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-26593" y="7359369"/>
            <a:ext cx="4671187" cy="1416079"/>
            <a:chOff x="0" y="0"/>
            <a:chExt cx="987631" cy="29940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87631" cy="299402"/>
            </a:xfrm>
            <a:custGeom>
              <a:avLst/>
              <a:gdLst/>
              <a:ahLst/>
              <a:cxnLst/>
              <a:rect l="l" t="t" r="r" b="b"/>
              <a:pathLst>
                <a:path w="987631" h="299402">
                  <a:moveTo>
                    <a:pt x="149701" y="0"/>
                  </a:moveTo>
                  <a:lnTo>
                    <a:pt x="837930" y="0"/>
                  </a:lnTo>
                  <a:cubicBezTo>
                    <a:pt x="877633" y="0"/>
                    <a:pt x="915711" y="15772"/>
                    <a:pt x="943785" y="43846"/>
                  </a:cubicBezTo>
                  <a:cubicBezTo>
                    <a:pt x="971859" y="71921"/>
                    <a:pt x="987631" y="109998"/>
                    <a:pt x="987631" y="149701"/>
                  </a:cubicBezTo>
                  <a:lnTo>
                    <a:pt x="987631" y="149701"/>
                  </a:lnTo>
                  <a:cubicBezTo>
                    <a:pt x="987631" y="232379"/>
                    <a:pt x="920608" y="299402"/>
                    <a:pt x="837930" y="299402"/>
                  </a:cubicBezTo>
                  <a:lnTo>
                    <a:pt x="149701" y="299402"/>
                  </a:lnTo>
                  <a:cubicBezTo>
                    <a:pt x="109998" y="299402"/>
                    <a:pt x="71921" y="283630"/>
                    <a:pt x="43846" y="255556"/>
                  </a:cubicBezTo>
                  <a:cubicBezTo>
                    <a:pt x="15772" y="227481"/>
                    <a:pt x="0" y="189404"/>
                    <a:pt x="0" y="149701"/>
                  </a:cubicBezTo>
                  <a:lnTo>
                    <a:pt x="0" y="149701"/>
                  </a:lnTo>
                  <a:cubicBezTo>
                    <a:pt x="0" y="109998"/>
                    <a:pt x="15772" y="71921"/>
                    <a:pt x="43846" y="43846"/>
                  </a:cubicBezTo>
                  <a:cubicBezTo>
                    <a:pt x="71921" y="15772"/>
                    <a:pt x="109998" y="0"/>
                    <a:pt x="149701" y="0"/>
                  </a:cubicBezTo>
                  <a:close/>
                </a:path>
              </a:pathLst>
            </a:custGeom>
            <a:solidFill>
              <a:srgbClr val="99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987631" cy="347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65889" y="7896335"/>
            <a:ext cx="4286225" cy="87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Página 5 declara sesgos y límites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0485" y="7599281"/>
            <a:ext cx="4037032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TRANSPARENCIA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756" y="-266888"/>
            <a:ext cx="3506061" cy="3506061"/>
          </a:xfrm>
          <a:custGeom>
            <a:avLst/>
            <a:gdLst/>
            <a:ahLst/>
            <a:cxnLst/>
            <a:rect l="l" t="t" r="r" b="b"/>
            <a:pathLst>
              <a:path w="3506061" h="3506061">
                <a:moveTo>
                  <a:pt x="0" y="0"/>
                </a:moveTo>
                <a:lnTo>
                  <a:pt x="3506061" y="0"/>
                </a:lnTo>
                <a:lnTo>
                  <a:pt x="3506061" y="3506062"/>
                </a:lnTo>
                <a:lnTo>
                  <a:pt x="0" y="350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976547" y="6997008"/>
            <a:ext cx="3556879" cy="3556879"/>
          </a:xfrm>
          <a:custGeom>
            <a:avLst/>
            <a:gdLst/>
            <a:ahLst/>
            <a:cxnLst/>
            <a:rect l="l" t="t" r="r" b="b"/>
            <a:pathLst>
              <a:path w="3556879" h="3556879">
                <a:moveTo>
                  <a:pt x="0" y="0"/>
                </a:moveTo>
                <a:lnTo>
                  <a:pt x="3556879" y="0"/>
                </a:lnTo>
                <a:lnTo>
                  <a:pt x="3556879" y="3556880"/>
                </a:lnTo>
                <a:lnTo>
                  <a:pt x="0" y="35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-1670" y="1025153"/>
            <a:ext cx="18289670" cy="9069504"/>
            <a:chOff x="0" y="0"/>
            <a:chExt cx="5508308" cy="2731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08308" cy="2731467"/>
            </a:xfrm>
            <a:custGeom>
              <a:avLst/>
              <a:gdLst/>
              <a:ahLst/>
              <a:cxnLst/>
              <a:rect l="l" t="t" r="r" b="b"/>
              <a:pathLst>
                <a:path w="5508308" h="2731467">
                  <a:moveTo>
                    <a:pt x="42329" y="0"/>
                  </a:moveTo>
                  <a:lnTo>
                    <a:pt x="5465979" y="0"/>
                  </a:lnTo>
                  <a:cubicBezTo>
                    <a:pt x="5489357" y="0"/>
                    <a:pt x="5508308" y="18952"/>
                    <a:pt x="5508308" y="42329"/>
                  </a:cubicBezTo>
                  <a:lnTo>
                    <a:pt x="5508308" y="2689137"/>
                  </a:lnTo>
                  <a:cubicBezTo>
                    <a:pt x="5508308" y="2712515"/>
                    <a:pt x="5489357" y="2731467"/>
                    <a:pt x="5465979" y="2731467"/>
                  </a:cubicBezTo>
                  <a:lnTo>
                    <a:pt x="42329" y="2731467"/>
                  </a:lnTo>
                  <a:cubicBezTo>
                    <a:pt x="18952" y="2731467"/>
                    <a:pt x="0" y="2712515"/>
                    <a:pt x="0" y="2689137"/>
                  </a:cubicBezTo>
                  <a:lnTo>
                    <a:pt x="0" y="42329"/>
                  </a:lnTo>
                  <a:cubicBezTo>
                    <a:pt x="0" y="18952"/>
                    <a:pt x="18952" y="0"/>
                    <a:pt x="42329" y="0"/>
                  </a:cubicBezTo>
                  <a:close/>
                </a:path>
              </a:pathLst>
            </a:custGeom>
            <a:ln w="28575" cap="rnd">
              <a:solidFill>
                <a:srgbClr val="404258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08308" cy="2779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77205" y="66675"/>
            <a:ext cx="13015165" cy="1147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43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TRES HISTORIAS QUE CAMBIAN LA DECISIÓN</a:t>
            </a:r>
          </a:p>
        </p:txBody>
      </p:sp>
      <p:sp>
        <p:nvSpPr>
          <p:cNvPr id="8" name="Freeform 8"/>
          <p:cNvSpPr/>
          <p:nvPr/>
        </p:nvSpPr>
        <p:spPr>
          <a:xfrm>
            <a:off x="14976547" y="-647503"/>
            <a:ext cx="3338046" cy="2749336"/>
          </a:xfrm>
          <a:custGeom>
            <a:avLst/>
            <a:gdLst/>
            <a:ahLst/>
            <a:cxnLst/>
            <a:rect l="l" t="t" r="r" b="b"/>
            <a:pathLst>
              <a:path w="3338046" h="2749336">
                <a:moveTo>
                  <a:pt x="0" y="0"/>
                </a:moveTo>
                <a:lnTo>
                  <a:pt x="3338046" y="0"/>
                </a:lnTo>
                <a:lnTo>
                  <a:pt x="3338046" y="2749336"/>
                </a:lnTo>
                <a:lnTo>
                  <a:pt x="0" y="2749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6884392" y="6997008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 flipH="1">
            <a:off x="421530" y="7510554"/>
            <a:ext cx="1875137" cy="3815384"/>
          </a:xfrm>
          <a:custGeom>
            <a:avLst/>
            <a:gdLst/>
            <a:ahLst/>
            <a:cxnLst/>
            <a:rect l="l" t="t" r="r" b="b"/>
            <a:pathLst>
              <a:path w="1875137" h="3815384">
                <a:moveTo>
                  <a:pt x="1875137" y="0"/>
                </a:moveTo>
                <a:lnTo>
                  <a:pt x="0" y="0"/>
                </a:lnTo>
                <a:lnTo>
                  <a:pt x="0" y="3815384"/>
                </a:lnTo>
                <a:lnTo>
                  <a:pt x="1875137" y="3815384"/>
                </a:lnTo>
                <a:lnTo>
                  <a:pt x="18751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2" name="Group 12"/>
          <p:cNvGrpSpPr/>
          <p:nvPr/>
        </p:nvGrpSpPr>
        <p:grpSpPr>
          <a:xfrm>
            <a:off x="12829621" y="2101833"/>
            <a:ext cx="4974898" cy="2151037"/>
            <a:chOff x="0" y="0"/>
            <a:chExt cx="987631" cy="4270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7631" cy="427030"/>
            </a:xfrm>
            <a:custGeom>
              <a:avLst/>
              <a:gdLst/>
              <a:ahLst/>
              <a:cxnLst/>
              <a:rect l="l" t="t" r="r" b="b"/>
              <a:pathLst>
                <a:path w="987631" h="427030">
                  <a:moveTo>
                    <a:pt x="155620" y="0"/>
                  </a:moveTo>
                  <a:lnTo>
                    <a:pt x="832012" y="0"/>
                  </a:lnTo>
                  <a:cubicBezTo>
                    <a:pt x="873285" y="0"/>
                    <a:pt x="912867" y="16396"/>
                    <a:pt x="942051" y="45580"/>
                  </a:cubicBezTo>
                  <a:cubicBezTo>
                    <a:pt x="971236" y="74764"/>
                    <a:pt x="987631" y="114347"/>
                    <a:pt x="987631" y="155620"/>
                  </a:cubicBezTo>
                  <a:lnTo>
                    <a:pt x="987631" y="271411"/>
                  </a:lnTo>
                  <a:cubicBezTo>
                    <a:pt x="987631" y="312684"/>
                    <a:pt x="971236" y="352266"/>
                    <a:pt x="942051" y="381450"/>
                  </a:cubicBezTo>
                  <a:cubicBezTo>
                    <a:pt x="912867" y="410635"/>
                    <a:pt x="873285" y="427030"/>
                    <a:pt x="832012" y="427030"/>
                  </a:cubicBezTo>
                  <a:lnTo>
                    <a:pt x="155620" y="427030"/>
                  </a:lnTo>
                  <a:cubicBezTo>
                    <a:pt x="114347" y="427030"/>
                    <a:pt x="74764" y="410635"/>
                    <a:pt x="45580" y="381450"/>
                  </a:cubicBezTo>
                  <a:cubicBezTo>
                    <a:pt x="16396" y="352266"/>
                    <a:pt x="0" y="312684"/>
                    <a:pt x="0" y="271411"/>
                  </a:cubicBezTo>
                  <a:lnTo>
                    <a:pt x="0" y="155620"/>
                  </a:lnTo>
                  <a:cubicBezTo>
                    <a:pt x="0" y="114347"/>
                    <a:pt x="16396" y="74764"/>
                    <a:pt x="45580" y="45580"/>
                  </a:cubicBezTo>
                  <a:cubicBezTo>
                    <a:pt x="74764" y="16396"/>
                    <a:pt x="114347" y="0"/>
                    <a:pt x="1556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87631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29621" y="4484386"/>
            <a:ext cx="4974898" cy="2852431"/>
            <a:chOff x="0" y="0"/>
            <a:chExt cx="987631" cy="5662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7631" cy="566273"/>
            </a:xfrm>
            <a:custGeom>
              <a:avLst/>
              <a:gdLst/>
              <a:ahLst/>
              <a:cxnLst/>
              <a:rect l="l" t="t" r="r" b="b"/>
              <a:pathLst>
                <a:path w="987631" h="566273">
                  <a:moveTo>
                    <a:pt x="155620" y="0"/>
                  </a:moveTo>
                  <a:lnTo>
                    <a:pt x="832012" y="0"/>
                  </a:lnTo>
                  <a:cubicBezTo>
                    <a:pt x="873285" y="0"/>
                    <a:pt x="912867" y="16396"/>
                    <a:pt x="942051" y="45580"/>
                  </a:cubicBezTo>
                  <a:cubicBezTo>
                    <a:pt x="971236" y="74764"/>
                    <a:pt x="987631" y="114347"/>
                    <a:pt x="987631" y="155620"/>
                  </a:cubicBezTo>
                  <a:lnTo>
                    <a:pt x="987631" y="410653"/>
                  </a:lnTo>
                  <a:cubicBezTo>
                    <a:pt x="987631" y="451926"/>
                    <a:pt x="971236" y="491509"/>
                    <a:pt x="942051" y="520693"/>
                  </a:cubicBezTo>
                  <a:cubicBezTo>
                    <a:pt x="912867" y="549877"/>
                    <a:pt x="873285" y="566273"/>
                    <a:pt x="832012" y="566273"/>
                  </a:cubicBezTo>
                  <a:lnTo>
                    <a:pt x="155620" y="566273"/>
                  </a:lnTo>
                  <a:cubicBezTo>
                    <a:pt x="114347" y="566273"/>
                    <a:pt x="74764" y="549877"/>
                    <a:pt x="45580" y="520693"/>
                  </a:cubicBezTo>
                  <a:cubicBezTo>
                    <a:pt x="16396" y="491509"/>
                    <a:pt x="0" y="451926"/>
                    <a:pt x="0" y="410653"/>
                  </a:cubicBezTo>
                  <a:lnTo>
                    <a:pt x="0" y="155620"/>
                  </a:lnTo>
                  <a:cubicBezTo>
                    <a:pt x="0" y="114347"/>
                    <a:pt x="16396" y="74764"/>
                    <a:pt x="45580" y="45580"/>
                  </a:cubicBezTo>
                  <a:cubicBezTo>
                    <a:pt x="74764" y="16396"/>
                    <a:pt x="114347" y="0"/>
                    <a:pt x="1556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87631" cy="613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10343" y="7470168"/>
            <a:ext cx="4974898" cy="2151037"/>
            <a:chOff x="0" y="0"/>
            <a:chExt cx="987631" cy="4270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7631" cy="427030"/>
            </a:xfrm>
            <a:custGeom>
              <a:avLst/>
              <a:gdLst/>
              <a:ahLst/>
              <a:cxnLst/>
              <a:rect l="l" t="t" r="r" b="b"/>
              <a:pathLst>
                <a:path w="987631" h="427030">
                  <a:moveTo>
                    <a:pt x="155620" y="0"/>
                  </a:moveTo>
                  <a:lnTo>
                    <a:pt x="832012" y="0"/>
                  </a:lnTo>
                  <a:cubicBezTo>
                    <a:pt x="873285" y="0"/>
                    <a:pt x="912867" y="16396"/>
                    <a:pt x="942051" y="45580"/>
                  </a:cubicBezTo>
                  <a:cubicBezTo>
                    <a:pt x="971236" y="74764"/>
                    <a:pt x="987631" y="114347"/>
                    <a:pt x="987631" y="155620"/>
                  </a:cubicBezTo>
                  <a:lnTo>
                    <a:pt x="987631" y="271411"/>
                  </a:lnTo>
                  <a:cubicBezTo>
                    <a:pt x="987631" y="312684"/>
                    <a:pt x="971236" y="352266"/>
                    <a:pt x="942051" y="381450"/>
                  </a:cubicBezTo>
                  <a:cubicBezTo>
                    <a:pt x="912867" y="410635"/>
                    <a:pt x="873285" y="427030"/>
                    <a:pt x="832012" y="427030"/>
                  </a:cubicBezTo>
                  <a:lnTo>
                    <a:pt x="155620" y="427030"/>
                  </a:lnTo>
                  <a:cubicBezTo>
                    <a:pt x="114347" y="427030"/>
                    <a:pt x="74764" y="410635"/>
                    <a:pt x="45580" y="381450"/>
                  </a:cubicBezTo>
                  <a:cubicBezTo>
                    <a:pt x="16396" y="352266"/>
                    <a:pt x="0" y="312684"/>
                    <a:pt x="0" y="271411"/>
                  </a:cubicBezTo>
                  <a:lnTo>
                    <a:pt x="0" y="155620"/>
                  </a:lnTo>
                  <a:cubicBezTo>
                    <a:pt x="0" y="114347"/>
                    <a:pt x="16396" y="74764"/>
                    <a:pt x="45580" y="45580"/>
                  </a:cubicBezTo>
                  <a:cubicBezTo>
                    <a:pt x="74764" y="16396"/>
                    <a:pt x="114347" y="0"/>
                    <a:pt x="1556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87631" cy="474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246601" y="1028700"/>
            <a:ext cx="11930512" cy="9116712"/>
          </a:xfrm>
          <a:custGeom>
            <a:avLst/>
            <a:gdLst/>
            <a:ahLst/>
            <a:cxnLst/>
            <a:rect l="l" t="t" r="r" b="b"/>
            <a:pathLst>
              <a:path w="11930512" h="9116712">
                <a:moveTo>
                  <a:pt x="0" y="0"/>
                </a:moveTo>
                <a:lnTo>
                  <a:pt x="11930512" y="0"/>
                </a:lnTo>
                <a:lnTo>
                  <a:pt x="11930512" y="9116712"/>
                </a:lnTo>
                <a:lnTo>
                  <a:pt x="0" y="9116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3034617" y="3340364"/>
            <a:ext cx="4564906" cy="78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1"/>
              </a:lnSpc>
            </a:pPr>
            <a:r>
              <a:rPr lang="en-US" sz="2236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Popularidad y calidad se asocian débilmente (r = 0,25 / 0,13)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80221" y="2370668"/>
            <a:ext cx="4824297" cy="71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2769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1.MUY VISTO NO GARANTIZA BUENA NOTA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99334" y="5627036"/>
            <a:ext cx="5105185" cy="1557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2213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Drama: 22,9 % de las películas y engagement ~45; Acción y Aventura, Ciencia ficción y Animación rondan 60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01070" y="4605296"/>
            <a:ext cx="4698453" cy="105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2769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2. LA PARADOJA DEL DRAMA Y EL ESPECTÁCULO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96592" y="8498061"/>
            <a:ext cx="4564906" cy="78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1"/>
              </a:lnSpc>
            </a:pPr>
            <a:r>
              <a:rPr lang="en-US" sz="2236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Renaud lidera el ROI (8,8×); Wan, 6,2×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56121" y="7702820"/>
            <a:ext cx="3445850" cy="71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2769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3. RENTABILIDAD QUIRÚRGICA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756" y="-266888"/>
            <a:ext cx="3506061" cy="3506061"/>
          </a:xfrm>
          <a:custGeom>
            <a:avLst/>
            <a:gdLst/>
            <a:ahLst/>
            <a:cxnLst/>
            <a:rect l="l" t="t" r="r" b="b"/>
            <a:pathLst>
              <a:path w="3506061" h="3506061">
                <a:moveTo>
                  <a:pt x="0" y="0"/>
                </a:moveTo>
                <a:lnTo>
                  <a:pt x="3506061" y="0"/>
                </a:lnTo>
                <a:lnTo>
                  <a:pt x="3506061" y="3506062"/>
                </a:lnTo>
                <a:lnTo>
                  <a:pt x="0" y="350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976547" y="6997008"/>
            <a:ext cx="3556879" cy="3556879"/>
          </a:xfrm>
          <a:custGeom>
            <a:avLst/>
            <a:gdLst/>
            <a:ahLst/>
            <a:cxnLst/>
            <a:rect l="l" t="t" r="r" b="b"/>
            <a:pathLst>
              <a:path w="3556879" h="3556879">
                <a:moveTo>
                  <a:pt x="0" y="0"/>
                </a:moveTo>
                <a:lnTo>
                  <a:pt x="3556879" y="0"/>
                </a:lnTo>
                <a:lnTo>
                  <a:pt x="3556879" y="3556880"/>
                </a:lnTo>
                <a:lnTo>
                  <a:pt x="0" y="35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-1670" y="1333958"/>
            <a:ext cx="18289670" cy="9054876"/>
            <a:chOff x="0" y="0"/>
            <a:chExt cx="5508308" cy="27270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08308" cy="2727061"/>
            </a:xfrm>
            <a:custGeom>
              <a:avLst/>
              <a:gdLst/>
              <a:ahLst/>
              <a:cxnLst/>
              <a:rect l="l" t="t" r="r" b="b"/>
              <a:pathLst>
                <a:path w="5508308" h="2727061">
                  <a:moveTo>
                    <a:pt x="42329" y="0"/>
                  </a:moveTo>
                  <a:lnTo>
                    <a:pt x="5465979" y="0"/>
                  </a:lnTo>
                  <a:cubicBezTo>
                    <a:pt x="5489357" y="0"/>
                    <a:pt x="5508308" y="18952"/>
                    <a:pt x="5508308" y="42329"/>
                  </a:cubicBezTo>
                  <a:lnTo>
                    <a:pt x="5508308" y="2684732"/>
                  </a:lnTo>
                  <a:cubicBezTo>
                    <a:pt x="5508308" y="2708110"/>
                    <a:pt x="5489357" y="2727061"/>
                    <a:pt x="5465979" y="2727061"/>
                  </a:cubicBezTo>
                  <a:lnTo>
                    <a:pt x="42329" y="2727061"/>
                  </a:lnTo>
                  <a:cubicBezTo>
                    <a:pt x="18952" y="2727061"/>
                    <a:pt x="0" y="2708110"/>
                    <a:pt x="0" y="2684732"/>
                  </a:cubicBezTo>
                  <a:lnTo>
                    <a:pt x="0" y="42329"/>
                  </a:lnTo>
                  <a:cubicBezTo>
                    <a:pt x="0" y="18952"/>
                    <a:pt x="18952" y="0"/>
                    <a:pt x="42329" y="0"/>
                  </a:cubicBezTo>
                  <a:close/>
                </a:path>
              </a:pathLst>
            </a:custGeom>
            <a:ln w="28575" cap="rnd">
              <a:solidFill>
                <a:srgbClr val="404258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08308" cy="2774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37253" y="236678"/>
            <a:ext cx="13015165" cy="124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699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TODO LISTO PARA DIFUSIÓN Y REPRODUCCIÓN</a:t>
            </a:r>
          </a:p>
        </p:txBody>
      </p:sp>
      <p:sp>
        <p:nvSpPr>
          <p:cNvPr id="8" name="Freeform 8"/>
          <p:cNvSpPr/>
          <p:nvPr/>
        </p:nvSpPr>
        <p:spPr>
          <a:xfrm>
            <a:off x="14976547" y="-647503"/>
            <a:ext cx="3338046" cy="2749336"/>
          </a:xfrm>
          <a:custGeom>
            <a:avLst/>
            <a:gdLst/>
            <a:ahLst/>
            <a:cxnLst/>
            <a:rect l="l" t="t" r="r" b="b"/>
            <a:pathLst>
              <a:path w="3338046" h="2749336">
                <a:moveTo>
                  <a:pt x="0" y="0"/>
                </a:moveTo>
                <a:lnTo>
                  <a:pt x="3338046" y="0"/>
                </a:lnTo>
                <a:lnTo>
                  <a:pt x="3338046" y="2749336"/>
                </a:lnTo>
                <a:lnTo>
                  <a:pt x="0" y="2749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6909314" y="7094126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7" y="0"/>
                </a:lnTo>
                <a:lnTo>
                  <a:pt x="2810557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 flipH="1">
            <a:off x="421530" y="7510554"/>
            <a:ext cx="1875137" cy="3815384"/>
          </a:xfrm>
          <a:custGeom>
            <a:avLst/>
            <a:gdLst/>
            <a:ahLst/>
            <a:cxnLst/>
            <a:rect l="l" t="t" r="r" b="b"/>
            <a:pathLst>
              <a:path w="1875137" h="3815384">
                <a:moveTo>
                  <a:pt x="1875137" y="0"/>
                </a:moveTo>
                <a:lnTo>
                  <a:pt x="0" y="0"/>
                </a:lnTo>
                <a:lnTo>
                  <a:pt x="0" y="3815384"/>
                </a:lnTo>
                <a:lnTo>
                  <a:pt x="1875137" y="3815384"/>
                </a:lnTo>
                <a:lnTo>
                  <a:pt x="18751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2" name="Group 12"/>
          <p:cNvGrpSpPr/>
          <p:nvPr/>
        </p:nvGrpSpPr>
        <p:grpSpPr>
          <a:xfrm>
            <a:off x="14976547" y="2319204"/>
            <a:ext cx="3013167" cy="921673"/>
            <a:chOff x="0" y="0"/>
            <a:chExt cx="703654" cy="2152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3654" cy="215235"/>
            </a:xfrm>
            <a:custGeom>
              <a:avLst/>
              <a:gdLst/>
              <a:ahLst/>
              <a:cxnLst/>
              <a:rect l="l" t="t" r="r" b="b"/>
              <a:pathLst>
                <a:path w="703654" h="215235">
                  <a:moveTo>
                    <a:pt x="107617" y="0"/>
                  </a:moveTo>
                  <a:lnTo>
                    <a:pt x="596036" y="0"/>
                  </a:lnTo>
                  <a:cubicBezTo>
                    <a:pt x="624578" y="0"/>
                    <a:pt x="651951" y="11338"/>
                    <a:pt x="672133" y="31520"/>
                  </a:cubicBezTo>
                  <a:cubicBezTo>
                    <a:pt x="692316" y="51703"/>
                    <a:pt x="703654" y="79076"/>
                    <a:pt x="703654" y="107617"/>
                  </a:cubicBezTo>
                  <a:lnTo>
                    <a:pt x="703654" y="107617"/>
                  </a:lnTo>
                  <a:cubicBezTo>
                    <a:pt x="703654" y="136159"/>
                    <a:pt x="692316" y="163532"/>
                    <a:pt x="672133" y="183715"/>
                  </a:cubicBezTo>
                  <a:cubicBezTo>
                    <a:pt x="651951" y="203897"/>
                    <a:pt x="624578" y="215235"/>
                    <a:pt x="596036" y="215235"/>
                  </a:cubicBezTo>
                  <a:lnTo>
                    <a:pt x="107617" y="215235"/>
                  </a:lnTo>
                  <a:cubicBezTo>
                    <a:pt x="79076" y="215235"/>
                    <a:pt x="51703" y="203897"/>
                    <a:pt x="31520" y="183715"/>
                  </a:cubicBezTo>
                  <a:cubicBezTo>
                    <a:pt x="11338" y="163532"/>
                    <a:pt x="0" y="136159"/>
                    <a:pt x="0" y="107617"/>
                  </a:cubicBezTo>
                  <a:lnTo>
                    <a:pt x="0" y="107617"/>
                  </a:lnTo>
                  <a:cubicBezTo>
                    <a:pt x="0" y="79076"/>
                    <a:pt x="11338" y="51703"/>
                    <a:pt x="31520" y="31520"/>
                  </a:cubicBezTo>
                  <a:cubicBezTo>
                    <a:pt x="51703" y="11338"/>
                    <a:pt x="79076" y="0"/>
                    <a:pt x="107617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03654" cy="26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208348" y="2648049"/>
            <a:ext cx="2549564" cy="3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4"/>
              </a:lnSpc>
            </a:pPr>
            <a:r>
              <a:rPr lang="en-US" sz="235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INFORME PDF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5266" y="1827152"/>
            <a:ext cx="14800622" cy="7261282"/>
          </a:xfrm>
          <a:custGeom>
            <a:avLst/>
            <a:gdLst/>
            <a:ahLst/>
            <a:cxnLst/>
            <a:rect l="l" t="t" r="r" b="b"/>
            <a:pathLst>
              <a:path w="14800622" h="7261282">
                <a:moveTo>
                  <a:pt x="0" y="0"/>
                </a:moveTo>
                <a:lnTo>
                  <a:pt x="14800622" y="0"/>
                </a:lnTo>
                <a:lnTo>
                  <a:pt x="14800622" y="7261282"/>
                </a:lnTo>
                <a:lnTo>
                  <a:pt x="0" y="72612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747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17" name="Group 17"/>
          <p:cNvGrpSpPr/>
          <p:nvPr/>
        </p:nvGrpSpPr>
        <p:grpSpPr>
          <a:xfrm>
            <a:off x="1028700" y="9088434"/>
            <a:ext cx="12993755" cy="1020634"/>
            <a:chOff x="0" y="0"/>
            <a:chExt cx="3680773" cy="2891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80773" cy="289117"/>
            </a:xfrm>
            <a:custGeom>
              <a:avLst/>
              <a:gdLst/>
              <a:ahLst/>
              <a:cxnLst/>
              <a:rect l="l" t="t" r="r" b="b"/>
              <a:pathLst>
                <a:path w="3680773" h="289117">
                  <a:moveTo>
                    <a:pt x="59582" y="0"/>
                  </a:moveTo>
                  <a:lnTo>
                    <a:pt x="3621191" y="0"/>
                  </a:lnTo>
                  <a:cubicBezTo>
                    <a:pt x="3636993" y="0"/>
                    <a:pt x="3652148" y="6277"/>
                    <a:pt x="3663322" y="17451"/>
                  </a:cubicBezTo>
                  <a:cubicBezTo>
                    <a:pt x="3674495" y="28625"/>
                    <a:pt x="3680773" y="43780"/>
                    <a:pt x="3680773" y="59582"/>
                  </a:cubicBezTo>
                  <a:lnTo>
                    <a:pt x="3680773" y="229536"/>
                  </a:lnTo>
                  <a:cubicBezTo>
                    <a:pt x="3680773" y="245338"/>
                    <a:pt x="3674495" y="260493"/>
                    <a:pt x="3663322" y="271666"/>
                  </a:cubicBezTo>
                  <a:cubicBezTo>
                    <a:pt x="3652148" y="282840"/>
                    <a:pt x="3636993" y="289117"/>
                    <a:pt x="3621191" y="289117"/>
                  </a:cubicBezTo>
                  <a:lnTo>
                    <a:pt x="59582" y="289117"/>
                  </a:lnTo>
                  <a:cubicBezTo>
                    <a:pt x="43780" y="289117"/>
                    <a:pt x="28625" y="282840"/>
                    <a:pt x="17451" y="271666"/>
                  </a:cubicBezTo>
                  <a:cubicBezTo>
                    <a:pt x="6277" y="260493"/>
                    <a:pt x="0" y="245338"/>
                    <a:pt x="0" y="229536"/>
                  </a:cubicBezTo>
                  <a:lnTo>
                    <a:pt x="0" y="59582"/>
                  </a:lnTo>
                  <a:cubicBezTo>
                    <a:pt x="0" y="43780"/>
                    <a:pt x="6277" y="28625"/>
                    <a:pt x="17451" y="17451"/>
                  </a:cubicBezTo>
                  <a:cubicBezTo>
                    <a:pt x="28625" y="6277"/>
                    <a:pt x="43780" y="0"/>
                    <a:pt x="59582" y="0"/>
                  </a:cubicBezTo>
                  <a:close/>
                </a:path>
              </a:pathLst>
            </a:custGeom>
            <a:solidFill>
              <a:srgbClr val="31529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680773" cy="336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62305" y="9383709"/>
            <a:ext cx="8204523" cy="39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data/ · notebooks/ · dashboard/ · images/ · README.md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4976547" y="3458249"/>
            <a:ext cx="3013167" cy="921673"/>
            <a:chOff x="0" y="0"/>
            <a:chExt cx="703654" cy="2152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3654" cy="215235"/>
            </a:xfrm>
            <a:custGeom>
              <a:avLst/>
              <a:gdLst/>
              <a:ahLst/>
              <a:cxnLst/>
              <a:rect l="l" t="t" r="r" b="b"/>
              <a:pathLst>
                <a:path w="703654" h="215235">
                  <a:moveTo>
                    <a:pt x="107617" y="0"/>
                  </a:moveTo>
                  <a:lnTo>
                    <a:pt x="596036" y="0"/>
                  </a:lnTo>
                  <a:cubicBezTo>
                    <a:pt x="624578" y="0"/>
                    <a:pt x="651951" y="11338"/>
                    <a:pt x="672133" y="31520"/>
                  </a:cubicBezTo>
                  <a:cubicBezTo>
                    <a:pt x="692316" y="51703"/>
                    <a:pt x="703654" y="79076"/>
                    <a:pt x="703654" y="107617"/>
                  </a:cubicBezTo>
                  <a:lnTo>
                    <a:pt x="703654" y="107617"/>
                  </a:lnTo>
                  <a:cubicBezTo>
                    <a:pt x="703654" y="136159"/>
                    <a:pt x="692316" y="163532"/>
                    <a:pt x="672133" y="183715"/>
                  </a:cubicBezTo>
                  <a:cubicBezTo>
                    <a:pt x="651951" y="203897"/>
                    <a:pt x="624578" y="215235"/>
                    <a:pt x="596036" y="215235"/>
                  </a:cubicBezTo>
                  <a:lnTo>
                    <a:pt x="107617" y="215235"/>
                  </a:lnTo>
                  <a:cubicBezTo>
                    <a:pt x="79076" y="215235"/>
                    <a:pt x="51703" y="203897"/>
                    <a:pt x="31520" y="183715"/>
                  </a:cubicBezTo>
                  <a:cubicBezTo>
                    <a:pt x="11338" y="163532"/>
                    <a:pt x="0" y="136159"/>
                    <a:pt x="0" y="107617"/>
                  </a:cubicBezTo>
                  <a:lnTo>
                    <a:pt x="0" y="107617"/>
                  </a:lnTo>
                  <a:cubicBezTo>
                    <a:pt x="0" y="79076"/>
                    <a:pt x="11338" y="51703"/>
                    <a:pt x="31520" y="31520"/>
                  </a:cubicBezTo>
                  <a:cubicBezTo>
                    <a:pt x="51703" y="11338"/>
                    <a:pt x="79076" y="0"/>
                    <a:pt x="107617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03654" cy="26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208348" y="3634082"/>
            <a:ext cx="2549564" cy="60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4"/>
              </a:lnSpc>
            </a:pPr>
            <a:r>
              <a:rPr lang="en-US" sz="235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DASHBOARD CON ENLACE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976547" y="4597293"/>
            <a:ext cx="3013167" cy="921673"/>
            <a:chOff x="0" y="0"/>
            <a:chExt cx="703654" cy="21523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03654" cy="215235"/>
            </a:xfrm>
            <a:custGeom>
              <a:avLst/>
              <a:gdLst/>
              <a:ahLst/>
              <a:cxnLst/>
              <a:rect l="l" t="t" r="r" b="b"/>
              <a:pathLst>
                <a:path w="703654" h="215235">
                  <a:moveTo>
                    <a:pt x="107617" y="0"/>
                  </a:moveTo>
                  <a:lnTo>
                    <a:pt x="596036" y="0"/>
                  </a:lnTo>
                  <a:cubicBezTo>
                    <a:pt x="624578" y="0"/>
                    <a:pt x="651951" y="11338"/>
                    <a:pt x="672133" y="31520"/>
                  </a:cubicBezTo>
                  <a:cubicBezTo>
                    <a:pt x="692316" y="51703"/>
                    <a:pt x="703654" y="79076"/>
                    <a:pt x="703654" y="107617"/>
                  </a:cubicBezTo>
                  <a:lnTo>
                    <a:pt x="703654" y="107617"/>
                  </a:lnTo>
                  <a:cubicBezTo>
                    <a:pt x="703654" y="136159"/>
                    <a:pt x="692316" y="163532"/>
                    <a:pt x="672133" y="183715"/>
                  </a:cubicBezTo>
                  <a:cubicBezTo>
                    <a:pt x="651951" y="203897"/>
                    <a:pt x="624578" y="215235"/>
                    <a:pt x="596036" y="215235"/>
                  </a:cubicBezTo>
                  <a:lnTo>
                    <a:pt x="107617" y="215235"/>
                  </a:lnTo>
                  <a:cubicBezTo>
                    <a:pt x="79076" y="215235"/>
                    <a:pt x="51703" y="203897"/>
                    <a:pt x="31520" y="183715"/>
                  </a:cubicBezTo>
                  <a:cubicBezTo>
                    <a:pt x="11338" y="163532"/>
                    <a:pt x="0" y="136159"/>
                    <a:pt x="0" y="107617"/>
                  </a:cubicBezTo>
                  <a:lnTo>
                    <a:pt x="0" y="107617"/>
                  </a:lnTo>
                  <a:cubicBezTo>
                    <a:pt x="0" y="79076"/>
                    <a:pt x="11338" y="51703"/>
                    <a:pt x="31520" y="31520"/>
                  </a:cubicBezTo>
                  <a:cubicBezTo>
                    <a:pt x="51703" y="11338"/>
                    <a:pt x="79076" y="0"/>
                    <a:pt x="107617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703654" cy="26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208348" y="4913322"/>
            <a:ext cx="2549564" cy="3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4"/>
              </a:lnSpc>
            </a:pPr>
            <a:r>
              <a:rPr lang="en-US" sz="235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INFOGRAFÍA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4976547" y="5736337"/>
            <a:ext cx="3013167" cy="921673"/>
            <a:chOff x="0" y="0"/>
            <a:chExt cx="703654" cy="21523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03654" cy="215235"/>
            </a:xfrm>
            <a:custGeom>
              <a:avLst/>
              <a:gdLst/>
              <a:ahLst/>
              <a:cxnLst/>
              <a:rect l="l" t="t" r="r" b="b"/>
              <a:pathLst>
                <a:path w="703654" h="215235">
                  <a:moveTo>
                    <a:pt x="107617" y="0"/>
                  </a:moveTo>
                  <a:lnTo>
                    <a:pt x="596036" y="0"/>
                  </a:lnTo>
                  <a:cubicBezTo>
                    <a:pt x="624578" y="0"/>
                    <a:pt x="651951" y="11338"/>
                    <a:pt x="672133" y="31520"/>
                  </a:cubicBezTo>
                  <a:cubicBezTo>
                    <a:pt x="692316" y="51703"/>
                    <a:pt x="703654" y="79076"/>
                    <a:pt x="703654" y="107617"/>
                  </a:cubicBezTo>
                  <a:lnTo>
                    <a:pt x="703654" y="107617"/>
                  </a:lnTo>
                  <a:cubicBezTo>
                    <a:pt x="703654" y="136159"/>
                    <a:pt x="692316" y="163532"/>
                    <a:pt x="672133" y="183715"/>
                  </a:cubicBezTo>
                  <a:cubicBezTo>
                    <a:pt x="651951" y="203897"/>
                    <a:pt x="624578" y="215235"/>
                    <a:pt x="596036" y="215235"/>
                  </a:cubicBezTo>
                  <a:lnTo>
                    <a:pt x="107617" y="215235"/>
                  </a:lnTo>
                  <a:cubicBezTo>
                    <a:pt x="79076" y="215235"/>
                    <a:pt x="51703" y="203897"/>
                    <a:pt x="31520" y="183715"/>
                  </a:cubicBezTo>
                  <a:cubicBezTo>
                    <a:pt x="11338" y="163532"/>
                    <a:pt x="0" y="136159"/>
                    <a:pt x="0" y="107617"/>
                  </a:cubicBezTo>
                  <a:lnTo>
                    <a:pt x="0" y="107617"/>
                  </a:lnTo>
                  <a:cubicBezTo>
                    <a:pt x="0" y="79076"/>
                    <a:pt x="11338" y="51703"/>
                    <a:pt x="31520" y="31520"/>
                  </a:cubicBezTo>
                  <a:cubicBezTo>
                    <a:pt x="51703" y="11338"/>
                    <a:pt x="79076" y="0"/>
                    <a:pt x="107617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703654" cy="26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5208348" y="6061891"/>
            <a:ext cx="2549564" cy="3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4"/>
              </a:lnSpc>
            </a:pPr>
            <a:r>
              <a:rPr lang="en-US" sz="235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GRÁFICOS PNG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4976547" y="6875382"/>
            <a:ext cx="3013167" cy="921673"/>
            <a:chOff x="0" y="0"/>
            <a:chExt cx="703654" cy="21523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03654" cy="215235"/>
            </a:xfrm>
            <a:custGeom>
              <a:avLst/>
              <a:gdLst/>
              <a:ahLst/>
              <a:cxnLst/>
              <a:rect l="l" t="t" r="r" b="b"/>
              <a:pathLst>
                <a:path w="703654" h="215235">
                  <a:moveTo>
                    <a:pt x="107617" y="0"/>
                  </a:moveTo>
                  <a:lnTo>
                    <a:pt x="596036" y="0"/>
                  </a:lnTo>
                  <a:cubicBezTo>
                    <a:pt x="624578" y="0"/>
                    <a:pt x="651951" y="11338"/>
                    <a:pt x="672133" y="31520"/>
                  </a:cubicBezTo>
                  <a:cubicBezTo>
                    <a:pt x="692316" y="51703"/>
                    <a:pt x="703654" y="79076"/>
                    <a:pt x="703654" y="107617"/>
                  </a:cubicBezTo>
                  <a:lnTo>
                    <a:pt x="703654" y="107617"/>
                  </a:lnTo>
                  <a:cubicBezTo>
                    <a:pt x="703654" y="136159"/>
                    <a:pt x="692316" y="163532"/>
                    <a:pt x="672133" y="183715"/>
                  </a:cubicBezTo>
                  <a:cubicBezTo>
                    <a:pt x="651951" y="203897"/>
                    <a:pt x="624578" y="215235"/>
                    <a:pt x="596036" y="215235"/>
                  </a:cubicBezTo>
                  <a:lnTo>
                    <a:pt x="107617" y="215235"/>
                  </a:lnTo>
                  <a:cubicBezTo>
                    <a:pt x="79076" y="215235"/>
                    <a:pt x="51703" y="203897"/>
                    <a:pt x="31520" y="183715"/>
                  </a:cubicBezTo>
                  <a:cubicBezTo>
                    <a:pt x="11338" y="163532"/>
                    <a:pt x="0" y="136159"/>
                    <a:pt x="0" y="107617"/>
                  </a:cubicBezTo>
                  <a:lnTo>
                    <a:pt x="0" y="107617"/>
                  </a:lnTo>
                  <a:cubicBezTo>
                    <a:pt x="0" y="79076"/>
                    <a:pt x="11338" y="51703"/>
                    <a:pt x="31520" y="31520"/>
                  </a:cubicBezTo>
                  <a:cubicBezTo>
                    <a:pt x="51703" y="11338"/>
                    <a:pt x="79076" y="0"/>
                    <a:pt x="107617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703654" cy="26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5208348" y="7191411"/>
            <a:ext cx="2549564" cy="3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4"/>
              </a:lnSpc>
            </a:pPr>
            <a:r>
              <a:rPr lang="en-US" sz="235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PRESENTACIÓN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976547" y="8014426"/>
            <a:ext cx="3013167" cy="921673"/>
            <a:chOff x="0" y="0"/>
            <a:chExt cx="703654" cy="21523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3654" cy="215235"/>
            </a:xfrm>
            <a:custGeom>
              <a:avLst/>
              <a:gdLst/>
              <a:ahLst/>
              <a:cxnLst/>
              <a:rect l="l" t="t" r="r" b="b"/>
              <a:pathLst>
                <a:path w="703654" h="215235">
                  <a:moveTo>
                    <a:pt x="107617" y="0"/>
                  </a:moveTo>
                  <a:lnTo>
                    <a:pt x="596036" y="0"/>
                  </a:lnTo>
                  <a:cubicBezTo>
                    <a:pt x="624578" y="0"/>
                    <a:pt x="651951" y="11338"/>
                    <a:pt x="672133" y="31520"/>
                  </a:cubicBezTo>
                  <a:cubicBezTo>
                    <a:pt x="692316" y="51703"/>
                    <a:pt x="703654" y="79076"/>
                    <a:pt x="703654" y="107617"/>
                  </a:cubicBezTo>
                  <a:lnTo>
                    <a:pt x="703654" y="107617"/>
                  </a:lnTo>
                  <a:cubicBezTo>
                    <a:pt x="703654" y="136159"/>
                    <a:pt x="692316" y="163532"/>
                    <a:pt x="672133" y="183715"/>
                  </a:cubicBezTo>
                  <a:cubicBezTo>
                    <a:pt x="651951" y="203897"/>
                    <a:pt x="624578" y="215235"/>
                    <a:pt x="596036" y="215235"/>
                  </a:cubicBezTo>
                  <a:lnTo>
                    <a:pt x="107617" y="215235"/>
                  </a:lnTo>
                  <a:cubicBezTo>
                    <a:pt x="79076" y="215235"/>
                    <a:pt x="51703" y="203897"/>
                    <a:pt x="31520" y="183715"/>
                  </a:cubicBezTo>
                  <a:cubicBezTo>
                    <a:pt x="11338" y="163532"/>
                    <a:pt x="0" y="136159"/>
                    <a:pt x="0" y="107617"/>
                  </a:cubicBezTo>
                  <a:lnTo>
                    <a:pt x="0" y="107617"/>
                  </a:lnTo>
                  <a:cubicBezTo>
                    <a:pt x="0" y="79076"/>
                    <a:pt x="11338" y="51703"/>
                    <a:pt x="31520" y="31520"/>
                  </a:cubicBezTo>
                  <a:cubicBezTo>
                    <a:pt x="51703" y="11338"/>
                    <a:pt x="79076" y="0"/>
                    <a:pt x="107617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703654" cy="26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208348" y="8330455"/>
            <a:ext cx="2549564" cy="3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4"/>
              </a:lnSpc>
            </a:pPr>
            <a:r>
              <a:rPr lang="en-US" sz="235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REPOSITORIO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5524" y="564130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8" y="0"/>
                </a:lnTo>
                <a:lnTo>
                  <a:pt x="3298068" y="3298068"/>
                </a:lnTo>
                <a:lnTo>
                  <a:pt x="0" y="329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1405278" y="5071055"/>
            <a:ext cx="2810556" cy="2810556"/>
          </a:xfrm>
          <a:custGeom>
            <a:avLst/>
            <a:gdLst/>
            <a:ahLst/>
            <a:cxnLst/>
            <a:rect l="l" t="t" r="r" b="b"/>
            <a:pathLst>
              <a:path w="2810556" h="2810556">
                <a:moveTo>
                  <a:pt x="0" y="0"/>
                </a:moveTo>
                <a:lnTo>
                  <a:pt x="2810556" y="0"/>
                </a:lnTo>
                <a:lnTo>
                  <a:pt x="2810556" y="2810557"/>
                </a:lnTo>
                <a:lnTo>
                  <a:pt x="0" y="2810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66792" y="3036776"/>
            <a:ext cx="5175371" cy="6079475"/>
            <a:chOff x="0" y="0"/>
            <a:chExt cx="1466040" cy="17221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6040" cy="1722148"/>
            </a:xfrm>
            <a:custGeom>
              <a:avLst/>
              <a:gdLst/>
              <a:ahLst/>
              <a:cxnLst/>
              <a:rect l="l" t="t" r="r" b="b"/>
              <a:pathLst>
                <a:path w="1466040" h="1722148">
                  <a:moveTo>
                    <a:pt x="149592" y="0"/>
                  </a:moveTo>
                  <a:lnTo>
                    <a:pt x="1316449" y="0"/>
                  </a:lnTo>
                  <a:cubicBezTo>
                    <a:pt x="1356123" y="0"/>
                    <a:pt x="1394172" y="15760"/>
                    <a:pt x="1422226" y="43814"/>
                  </a:cubicBezTo>
                  <a:cubicBezTo>
                    <a:pt x="1450280" y="71868"/>
                    <a:pt x="1466040" y="109917"/>
                    <a:pt x="1466040" y="149592"/>
                  </a:cubicBezTo>
                  <a:lnTo>
                    <a:pt x="1466040" y="1572556"/>
                  </a:lnTo>
                  <a:cubicBezTo>
                    <a:pt x="1466040" y="1612230"/>
                    <a:pt x="1450280" y="1650280"/>
                    <a:pt x="1422226" y="1678333"/>
                  </a:cubicBezTo>
                  <a:cubicBezTo>
                    <a:pt x="1394172" y="1706387"/>
                    <a:pt x="1356123" y="1722148"/>
                    <a:pt x="1316449" y="1722148"/>
                  </a:cubicBezTo>
                  <a:lnTo>
                    <a:pt x="149592" y="1722148"/>
                  </a:lnTo>
                  <a:cubicBezTo>
                    <a:pt x="109917" y="1722148"/>
                    <a:pt x="71868" y="1706387"/>
                    <a:pt x="43814" y="1678333"/>
                  </a:cubicBezTo>
                  <a:cubicBezTo>
                    <a:pt x="15760" y="1650280"/>
                    <a:pt x="0" y="1612230"/>
                    <a:pt x="0" y="1572556"/>
                  </a:cubicBezTo>
                  <a:lnTo>
                    <a:pt x="0" y="149592"/>
                  </a:lnTo>
                  <a:cubicBezTo>
                    <a:pt x="0" y="109917"/>
                    <a:pt x="15760" y="71868"/>
                    <a:pt x="43814" y="43814"/>
                  </a:cubicBezTo>
                  <a:cubicBezTo>
                    <a:pt x="71868" y="15760"/>
                    <a:pt x="109917" y="0"/>
                    <a:pt x="149592" y="0"/>
                  </a:cubicBezTo>
                  <a:close/>
                </a:path>
              </a:pathLst>
            </a:custGeom>
            <a:solidFill>
              <a:srgbClr val="D1D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66040" cy="1769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05620" y="6605393"/>
            <a:ext cx="3298068" cy="3298068"/>
          </a:xfrm>
          <a:custGeom>
            <a:avLst/>
            <a:gdLst/>
            <a:ahLst/>
            <a:cxnLst/>
            <a:rect l="l" t="t" r="r" b="b"/>
            <a:pathLst>
              <a:path w="3298068" h="3298068">
                <a:moveTo>
                  <a:pt x="0" y="0"/>
                </a:moveTo>
                <a:lnTo>
                  <a:pt x="3298068" y="0"/>
                </a:lnTo>
                <a:lnTo>
                  <a:pt x="3298068" y="3298068"/>
                </a:lnTo>
                <a:lnTo>
                  <a:pt x="0" y="3298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2771601" y="-922709"/>
            <a:ext cx="4921402" cy="3042321"/>
          </a:xfrm>
          <a:custGeom>
            <a:avLst/>
            <a:gdLst/>
            <a:ahLst/>
            <a:cxnLst/>
            <a:rect l="l" t="t" r="r" b="b"/>
            <a:pathLst>
              <a:path w="4921402" h="3042321">
                <a:moveTo>
                  <a:pt x="0" y="0"/>
                </a:moveTo>
                <a:lnTo>
                  <a:pt x="4921402" y="0"/>
                </a:lnTo>
                <a:lnTo>
                  <a:pt x="4921402" y="3042322"/>
                </a:lnTo>
                <a:lnTo>
                  <a:pt x="0" y="3042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10800000">
            <a:off x="844687" y="8957937"/>
            <a:ext cx="5678347" cy="3510251"/>
          </a:xfrm>
          <a:custGeom>
            <a:avLst/>
            <a:gdLst/>
            <a:ahLst/>
            <a:cxnLst/>
            <a:rect l="l" t="t" r="r" b="b"/>
            <a:pathLst>
              <a:path w="5678347" h="3510251">
                <a:moveTo>
                  <a:pt x="0" y="0"/>
                </a:moveTo>
                <a:lnTo>
                  <a:pt x="5678348" y="0"/>
                </a:lnTo>
                <a:lnTo>
                  <a:pt x="5678348" y="3510251"/>
                </a:lnTo>
                <a:lnTo>
                  <a:pt x="0" y="3510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105945" y="712752"/>
            <a:ext cx="16495463" cy="183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QUÉ FUNCIONA, QUÉ NO, Y CÓMO LO MEJORARÍAMOS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843056" y="-140601"/>
            <a:ext cx="2334475" cy="2334475"/>
          </a:xfrm>
          <a:custGeom>
            <a:avLst/>
            <a:gdLst/>
            <a:ahLst/>
            <a:cxnLst/>
            <a:rect l="l" t="t" r="r" b="b"/>
            <a:pathLst>
              <a:path w="2334475" h="2334475">
                <a:moveTo>
                  <a:pt x="0" y="0"/>
                </a:moveTo>
                <a:lnTo>
                  <a:pt x="2334475" y="0"/>
                </a:lnTo>
                <a:lnTo>
                  <a:pt x="2334475" y="2334475"/>
                </a:lnTo>
                <a:lnTo>
                  <a:pt x="0" y="2334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6594663" y="3036776"/>
            <a:ext cx="5430634" cy="6079475"/>
            <a:chOff x="0" y="0"/>
            <a:chExt cx="1538349" cy="17221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38349" cy="1722148"/>
            </a:xfrm>
            <a:custGeom>
              <a:avLst/>
              <a:gdLst/>
              <a:ahLst/>
              <a:cxnLst/>
              <a:rect l="l" t="t" r="r" b="b"/>
              <a:pathLst>
                <a:path w="1538349" h="1722148">
                  <a:moveTo>
                    <a:pt x="142560" y="0"/>
                  </a:moveTo>
                  <a:lnTo>
                    <a:pt x="1395789" y="0"/>
                  </a:lnTo>
                  <a:cubicBezTo>
                    <a:pt x="1474523" y="0"/>
                    <a:pt x="1538349" y="63826"/>
                    <a:pt x="1538349" y="142560"/>
                  </a:cubicBezTo>
                  <a:lnTo>
                    <a:pt x="1538349" y="1579588"/>
                  </a:lnTo>
                  <a:cubicBezTo>
                    <a:pt x="1538349" y="1658321"/>
                    <a:pt x="1474523" y="1722148"/>
                    <a:pt x="1395789" y="1722148"/>
                  </a:cubicBezTo>
                  <a:lnTo>
                    <a:pt x="142560" y="1722148"/>
                  </a:lnTo>
                  <a:cubicBezTo>
                    <a:pt x="63826" y="1722148"/>
                    <a:pt x="0" y="1658321"/>
                    <a:pt x="0" y="1579588"/>
                  </a:cubicBezTo>
                  <a:lnTo>
                    <a:pt x="0" y="142560"/>
                  </a:lnTo>
                  <a:cubicBezTo>
                    <a:pt x="0" y="63826"/>
                    <a:pt x="63826" y="0"/>
                    <a:pt x="142560" y="0"/>
                  </a:cubicBezTo>
                  <a:close/>
                </a:path>
              </a:pathLst>
            </a:custGeom>
            <a:solidFill>
              <a:srgbClr val="99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538349" cy="1769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50857" y="4260183"/>
            <a:ext cx="5374440" cy="277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3"/>
              </a:lnSpc>
            </a:pPr>
            <a:r>
              <a:rPr lang="en-US" sz="2645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Solo primer género, país y director (Drama: 43 % → 23 %). Series sin finanzas. 1.000 títulos por año (Series y peliculas). Datos faltantes.</a:t>
            </a:r>
          </a:p>
          <a:p>
            <a:pPr algn="just">
              <a:lnSpc>
                <a:spcPts val="3703"/>
              </a:lnSpc>
            </a:pPr>
            <a:endParaRPr lang="en-US" sz="2645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2834923" y="2878462"/>
            <a:ext cx="5175371" cy="6079475"/>
            <a:chOff x="0" y="0"/>
            <a:chExt cx="1466040" cy="17221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6040" cy="1722148"/>
            </a:xfrm>
            <a:custGeom>
              <a:avLst/>
              <a:gdLst/>
              <a:ahLst/>
              <a:cxnLst/>
              <a:rect l="l" t="t" r="r" b="b"/>
              <a:pathLst>
                <a:path w="1466040" h="1722148">
                  <a:moveTo>
                    <a:pt x="149592" y="0"/>
                  </a:moveTo>
                  <a:lnTo>
                    <a:pt x="1316449" y="0"/>
                  </a:lnTo>
                  <a:cubicBezTo>
                    <a:pt x="1356123" y="0"/>
                    <a:pt x="1394172" y="15760"/>
                    <a:pt x="1422226" y="43814"/>
                  </a:cubicBezTo>
                  <a:cubicBezTo>
                    <a:pt x="1450280" y="71868"/>
                    <a:pt x="1466040" y="109917"/>
                    <a:pt x="1466040" y="149592"/>
                  </a:cubicBezTo>
                  <a:lnTo>
                    <a:pt x="1466040" y="1572556"/>
                  </a:lnTo>
                  <a:cubicBezTo>
                    <a:pt x="1466040" y="1612230"/>
                    <a:pt x="1450280" y="1650280"/>
                    <a:pt x="1422226" y="1678333"/>
                  </a:cubicBezTo>
                  <a:cubicBezTo>
                    <a:pt x="1394172" y="1706387"/>
                    <a:pt x="1356123" y="1722148"/>
                    <a:pt x="1316449" y="1722148"/>
                  </a:cubicBezTo>
                  <a:lnTo>
                    <a:pt x="149592" y="1722148"/>
                  </a:lnTo>
                  <a:cubicBezTo>
                    <a:pt x="109917" y="1722148"/>
                    <a:pt x="71868" y="1706387"/>
                    <a:pt x="43814" y="1678333"/>
                  </a:cubicBezTo>
                  <a:cubicBezTo>
                    <a:pt x="15760" y="1650280"/>
                    <a:pt x="0" y="1612230"/>
                    <a:pt x="0" y="1572556"/>
                  </a:cubicBezTo>
                  <a:lnTo>
                    <a:pt x="0" y="149592"/>
                  </a:lnTo>
                  <a:cubicBezTo>
                    <a:pt x="0" y="109917"/>
                    <a:pt x="15760" y="71868"/>
                    <a:pt x="43814" y="43814"/>
                  </a:cubicBezTo>
                  <a:cubicBezTo>
                    <a:pt x="71868" y="15760"/>
                    <a:pt x="109917" y="0"/>
                    <a:pt x="149592" y="0"/>
                  </a:cubicBezTo>
                  <a:close/>
                </a:path>
              </a:pathLst>
            </a:custGeom>
            <a:solidFill>
              <a:srgbClr val="8CB0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466040" cy="1769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05945" y="3305685"/>
            <a:ext cx="689881" cy="68988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529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15524" y="4260183"/>
            <a:ext cx="4767831" cy="229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76"/>
              </a:lnSpc>
            </a:pPr>
            <a:r>
              <a:rPr lang="en-US" sz="2626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Cada cifra calculada dos veces y contrastada entre análisis, dashboard e informe. Datos tratados con rigor.</a:t>
            </a:r>
          </a:p>
          <a:p>
            <a:pPr algn="just">
              <a:lnSpc>
                <a:spcPts val="3676"/>
              </a:lnSpc>
            </a:pPr>
            <a:endParaRPr lang="en-US" sz="2626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28700" y="3486677"/>
            <a:ext cx="4760751" cy="37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FORTALEZAS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09283" y="3486677"/>
            <a:ext cx="4760751" cy="37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LIMITACIONES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93310" y="4330264"/>
            <a:ext cx="5058596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Integrar fuentes financieras (IMDbPro), modelar relaciones muchos a muchos y sumar datos de comportamiento.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840656" y="3486677"/>
            <a:ext cx="4760751" cy="37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>
                <a:solidFill>
                  <a:srgbClr val="315299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MEJORAS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973300" y="3305685"/>
            <a:ext cx="689881" cy="68988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529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103534" y="3305685"/>
            <a:ext cx="689881" cy="68988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529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0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644132" cy="10287000"/>
            <a:chOff x="0" y="0"/>
            <a:chExt cx="10192176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2845" r="12845"/>
            <a:stretch>
              <a:fillRect/>
            </a:stretch>
          </p:blipFill>
          <p:spPr>
            <a:xfrm>
              <a:off x="0" y="0"/>
              <a:ext cx="10192176" cy="13716000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 flipV="1">
            <a:off x="8327489" y="1028700"/>
            <a:ext cx="3687284" cy="3687284"/>
          </a:xfrm>
          <a:custGeom>
            <a:avLst/>
            <a:gdLst/>
            <a:ahLst/>
            <a:cxnLst/>
            <a:rect l="l" t="t" r="r" b="b"/>
            <a:pathLst>
              <a:path w="3687284" h="3687284">
                <a:moveTo>
                  <a:pt x="0" y="3687284"/>
                </a:moveTo>
                <a:lnTo>
                  <a:pt x="3687284" y="3687284"/>
                </a:lnTo>
                <a:lnTo>
                  <a:pt x="3687284" y="0"/>
                </a:lnTo>
                <a:lnTo>
                  <a:pt x="0" y="0"/>
                </a:lnTo>
                <a:lnTo>
                  <a:pt x="0" y="36872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5873413" y="-330508"/>
            <a:ext cx="3541437" cy="2047595"/>
          </a:xfrm>
          <a:custGeom>
            <a:avLst/>
            <a:gdLst/>
            <a:ahLst/>
            <a:cxnLst/>
            <a:rect l="l" t="t" r="r" b="b"/>
            <a:pathLst>
              <a:path w="3541437" h="2047595">
                <a:moveTo>
                  <a:pt x="0" y="0"/>
                </a:moveTo>
                <a:lnTo>
                  <a:pt x="3541438" y="0"/>
                </a:lnTo>
                <a:lnTo>
                  <a:pt x="3541438" y="2047595"/>
                </a:lnTo>
                <a:lnTo>
                  <a:pt x="0" y="2047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9749237" y="358216"/>
            <a:ext cx="8147708" cy="134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sz="5100" b="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TRES DECISIONES PARA STREAMVIEW</a:t>
            </a:r>
          </a:p>
        </p:txBody>
      </p:sp>
      <p:sp>
        <p:nvSpPr>
          <p:cNvPr id="7" name="Freeform 7"/>
          <p:cNvSpPr/>
          <p:nvPr/>
        </p:nvSpPr>
        <p:spPr>
          <a:xfrm>
            <a:off x="14648998" y="6736843"/>
            <a:ext cx="2933998" cy="2933998"/>
          </a:xfrm>
          <a:custGeom>
            <a:avLst/>
            <a:gdLst/>
            <a:ahLst/>
            <a:cxnLst/>
            <a:rect l="l" t="t" r="r" b="b"/>
            <a:pathLst>
              <a:path w="2933998" h="2933998">
                <a:moveTo>
                  <a:pt x="0" y="0"/>
                </a:moveTo>
                <a:lnTo>
                  <a:pt x="2933997" y="0"/>
                </a:lnTo>
                <a:lnTo>
                  <a:pt x="2933997" y="2933998"/>
                </a:lnTo>
                <a:lnTo>
                  <a:pt x="0" y="2933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5561691" y="9569574"/>
            <a:ext cx="2726309" cy="670218"/>
          </a:xfrm>
          <a:custGeom>
            <a:avLst/>
            <a:gdLst/>
            <a:ahLst/>
            <a:cxnLst/>
            <a:rect l="l" t="t" r="r" b="b"/>
            <a:pathLst>
              <a:path w="2726309" h="670218">
                <a:moveTo>
                  <a:pt x="0" y="0"/>
                </a:moveTo>
                <a:lnTo>
                  <a:pt x="2726309" y="0"/>
                </a:lnTo>
                <a:lnTo>
                  <a:pt x="2726309" y="670218"/>
                </a:lnTo>
                <a:lnTo>
                  <a:pt x="0" y="670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7823208" y="1940626"/>
            <a:ext cx="10128552" cy="47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ALTA PRIORIDAD: ESTRATEGIA BÍFIDA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23208" y="2396566"/>
            <a:ext cx="9759788" cy="834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Riesgo en “Acción y Aventura”  y “Ciencia ficción y Fantasía”; constancia en Documental y Animación.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17680" y="4003948"/>
            <a:ext cx="10128552" cy="47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MEDIA PRIORIDAD: DIVERSIFICACIÓN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7680" y="4459888"/>
            <a:ext cx="9765315" cy="834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Contenido de Japón, China y Corea, que supera a EE. UU. en nota (10 o más votos, por tipo).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12153" y="6067270"/>
            <a:ext cx="10128552" cy="47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URGENTE: AUDITORÍA FINANCIERA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2153" y="6523210"/>
            <a:ext cx="9770843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77,9 % de las películas sin ROI medible.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68393" y="8038132"/>
            <a:ext cx="10128552" cy="47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GRACIAS.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Personalizado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Arimo</vt:lpstr>
      <vt:lpstr>Cocomat Pro Bold</vt:lpstr>
      <vt:lpstr>Arimo Bold</vt:lpstr>
      <vt:lpstr>Arial</vt:lpstr>
      <vt:lpstr>Cocomat Pro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EVA2 Visualizacion</dc:title>
  <cp:lastModifiedBy>CARLOS IGNACIO HIDALGO ARANCIBIA</cp:lastModifiedBy>
  <cp:revision>2</cp:revision>
  <dcterms:created xsi:type="dcterms:W3CDTF">2006-08-16T00:00:00Z</dcterms:created>
  <dcterms:modified xsi:type="dcterms:W3CDTF">2026-10-14T15:26:22Z</dcterms:modified>
  <dc:identifier>DAHXwKUqJxk</dc:identifier>
</cp:coreProperties>
</file>